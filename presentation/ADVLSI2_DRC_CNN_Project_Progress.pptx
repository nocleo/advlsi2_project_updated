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753e6ba68e4dce" /><Relationship Type="http://schemas.openxmlformats.org/officeDocument/2006/relationships/extended-properties" Target="/docProps/app.xml" Id="R0579e5aa97374ac0" /><Relationship Type="http://schemas.openxmlformats.org/officeDocument/2006/relationships/officeDocument" Target="/ppt/presentation.xml" Id="Rf910cefd7020474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2757bf5996b4430"/>
  </p:sldMasterIdLst>
  <p:notesMasterIdLst>
    <p:notesMasterId xmlns:r="http://schemas.openxmlformats.org/officeDocument/2006/relationships" r:id="R675ca7f75dda4d0e"/>
  </p:notesMasterIdLst>
  <p:sldIdLst>
    <p:sldId xmlns:r="http://schemas.openxmlformats.org/officeDocument/2006/relationships" id="256" r:id="R17f5dad1ee394ac0"/>
    <p:sldId xmlns:r="http://schemas.openxmlformats.org/officeDocument/2006/relationships" id="257" r:id="R94aa7c0422a84967"/>
    <p:sldId xmlns:r="http://schemas.openxmlformats.org/officeDocument/2006/relationships" id="258" r:id="R8ed6c81632774817"/>
    <p:sldId xmlns:r="http://schemas.openxmlformats.org/officeDocument/2006/relationships" id="259" r:id="R55ab8b9507924e25"/>
    <p:sldId xmlns:r="http://schemas.openxmlformats.org/officeDocument/2006/relationships" id="260" r:id="Rf8f67285d7a14b7d"/>
    <p:sldId xmlns:r="http://schemas.openxmlformats.org/officeDocument/2006/relationships" id="261" r:id="Rbe27d747e8524d2a"/>
    <p:sldId xmlns:r="http://schemas.openxmlformats.org/officeDocument/2006/relationships" id="262" r:id="Rd9dcc84516234839"/>
    <p:sldId xmlns:r="http://schemas.openxmlformats.org/officeDocument/2006/relationships" id="263" r:id="R1deeed7d83734d15"/>
    <p:sldId xmlns:r="http://schemas.openxmlformats.org/officeDocument/2006/relationships" id="264" r:id="Raadb5b4e56b64032"/>
    <p:sldId xmlns:r="http://schemas.openxmlformats.org/officeDocument/2006/relationships" id="265" r:id="R039fa4a1412b41ad"/>
    <p:sldId xmlns:r="http://schemas.openxmlformats.org/officeDocument/2006/relationships" id="266" r:id="R4d18eba907d34d1d"/>
    <p:sldId xmlns:r="http://schemas.openxmlformats.org/officeDocument/2006/relationships" id="267" r:id="R04da68f9b6684a8c"/>
    <p:sldId xmlns:r="http://schemas.openxmlformats.org/officeDocument/2006/relationships" id="268" r:id="R905acd138b1d4b10"/>
    <p:sldId xmlns:r="http://schemas.openxmlformats.org/officeDocument/2006/relationships" id="269" r:id="R934cf7046eb04cda"/>
    <p:sldId xmlns:r="http://schemas.openxmlformats.org/officeDocument/2006/relationships" id="270" r:id="Rf24a79aa4d834c06"/>
    <p:sldId xmlns:r="http://schemas.openxmlformats.org/officeDocument/2006/relationships" id="271" r:id="Rbf0c3a4497e84130"/>
    <p:sldId xmlns:r="http://schemas.openxmlformats.org/officeDocument/2006/relationships" id="272" r:id="Rb275a10fcfea4b61"/>
    <p:sldId xmlns:r="http://schemas.openxmlformats.org/officeDocument/2006/relationships" id="273" r:id="R34b7c397e2f940da"/>
    <p:sldId xmlns:r="http://schemas.openxmlformats.org/officeDocument/2006/relationships" id="274" r:id="R1fc20979723b4ca4"/>
    <p:sldId xmlns:r="http://schemas.openxmlformats.org/officeDocument/2006/relationships" id="275" r:id="R32b872f7d435458e"/>
    <p:sldId xmlns:r="http://schemas.openxmlformats.org/officeDocument/2006/relationships" id="276" r:id="Re48b1acd92e140c0"/>
    <p:sldId xmlns:r="http://schemas.openxmlformats.org/officeDocument/2006/relationships" id="277" r:id="R5f989a7dfbf04e6e"/>
  </p:sldIdLst>
  <p:sldSz cx="12192000" cy="6858000"/>
  <p:notesSz cx="6858000" cy="9144000"/>
  <p:embeddedFontLst>
    <p:embeddedFont>
      <p:font typeface="Play"/>
      <p:regular xmlns:r="http://schemas.openxmlformats.org/officeDocument/2006/relationships" r:id="Rfebce990e9364765"/>
      <p:bold xmlns:r="http://schemas.openxmlformats.org/officeDocument/2006/relationships" r:id="Re5b694692d2c45ef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a3daaa20b145c6" /><Relationship Type="http://schemas.openxmlformats.org/officeDocument/2006/relationships/slideMaster" Target="/ppt/slideMasters/slideMaster1.xml" Id="R42757bf5996b4430" /><Relationship Type="http://schemas.openxmlformats.org/officeDocument/2006/relationships/notesMaster" Target="/ppt/notesMasters/notesMaster1.xml" Id="R675ca7f75dda4d0e" /><Relationship Type="http://schemas.openxmlformats.org/officeDocument/2006/relationships/presProps" Target="/ppt/presProps.xml" Id="R5d3ca0d9d920416d" /><Relationship Type="http://schemas.openxmlformats.org/officeDocument/2006/relationships/tableStyles" Target="/ppt/tableStyles.xml" Id="Rd392a38d1ac2461e" /><Relationship Type="http://schemas.openxmlformats.org/officeDocument/2006/relationships/font" Target="/ppt/fonts/font.dat" Id="Rfebce990e9364765" /><Relationship Type="http://schemas.openxmlformats.org/officeDocument/2006/relationships/font" Target="/ppt/fonts/font2.dat" Id="Re5b694692d2c45ef" /><Relationship Type="http://schemas.openxmlformats.org/officeDocument/2006/relationships/slide" Target="/ppt/slides/slide1.xml" Id="R17f5dad1ee394ac0" /><Relationship Type="http://schemas.openxmlformats.org/officeDocument/2006/relationships/slide" Target="/ppt/slides/slide2.xml" Id="R94aa7c0422a84967" /><Relationship Type="http://schemas.openxmlformats.org/officeDocument/2006/relationships/slide" Target="/ppt/slides/slide3.xml" Id="R8ed6c81632774817" /><Relationship Type="http://schemas.openxmlformats.org/officeDocument/2006/relationships/slide" Target="/ppt/slides/slide4.xml" Id="R55ab8b9507924e25" /><Relationship Type="http://schemas.openxmlformats.org/officeDocument/2006/relationships/slide" Target="/ppt/slides/slide5.xml" Id="Rf8f67285d7a14b7d" /><Relationship Type="http://schemas.openxmlformats.org/officeDocument/2006/relationships/slide" Target="/ppt/slides/slide6.xml" Id="Rbe27d747e8524d2a" /><Relationship Type="http://schemas.openxmlformats.org/officeDocument/2006/relationships/slide" Target="/ppt/slides/slide7.xml" Id="Rd9dcc84516234839" /><Relationship Type="http://schemas.openxmlformats.org/officeDocument/2006/relationships/slide" Target="/ppt/slides/slide8.xml" Id="R1deeed7d83734d15" /><Relationship Type="http://schemas.openxmlformats.org/officeDocument/2006/relationships/slide" Target="/ppt/slides/slide9.xml" Id="Raadb5b4e56b64032" /><Relationship Type="http://schemas.openxmlformats.org/officeDocument/2006/relationships/slide" Target="/ppt/slides/slide10.xml" Id="R039fa4a1412b41ad" /><Relationship Type="http://schemas.openxmlformats.org/officeDocument/2006/relationships/slide" Target="/ppt/slides/slide11.xml" Id="R4d18eba907d34d1d" /><Relationship Type="http://schemas.openxmlformats.org/officeDocument/2006/relationships/slide" Target="/ppt/slides/slide12.xml" Id="R04da68f9b6684a8c" /><Relationship Type="http://schemas.openxmlformats.org/officeDocument/2006/relationships/slide" Target="/ppt/slides/slide13.xml" Id="R905acd138b1d4b10" /><Relationship Type="http://schemas.openxmlformats.org/officeDocument/2006/relationships/slide" Target="/ppt/slides/slide14.xml" Id="R934cf7046eb04cda" /><Relationship Type="http://schemas.openxmlformats.org/officeDocument/2006/relationships/slide" Target="/ppt/slides/slide15.xml" Id="Rf24a79aa4d834c06" /><Relationship Type="http://schemas.openxmlformats.org/officeDocument/2006/relationships/slide" Target="/ppt/slides/slide16.xml" Id="Rbf0c3a4497e84130" /><Relationship Type="http://schemas.openxmlformats.org/officeDocument/2006/relationships/slide" Target="/ppt/slides/slide17.xml" Id="Rb275a10fcfea4b61" /><Relationship Type="http://schemas.openxmlformats.org/officeDocument/2006/relationships/slide" Target="/ppt/slides/slide18.xml" Id="R34b7c397e2f940da" /><Relationship Type="http://schemas.openxmlformats.org/officeDocument/2006/relationships/slide" Target="/ppt/slides/slide19.xml" Id="R1fc20979723b4ca4" /><Relationship Type="http://schemas.openxmlformats.org/officeDocument/2006/relationships/slide" Target="/ppt/slides/slide20.xml" Id="R32b872f7d435458e" /><Relationship Type="http://schemas.openxmlformats.org/officeDocument/2006/relationships/slide" Target="/ppt/slides/slide21.xml" Id="Re48b1acd92e140c0" /><Relationship Type="http://schemas.openxmlformats.org/officeDocument/2006/relationships/slide" Target="/ppt/slides/slide22.xml" Id="R5f989a7dfbf04e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daa0ac75e146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96de9129d74b27" /><Relationship Type="http://schemas.openxmlformats.org/officeDocument/2006/relationships/notesMaster" Target="/ppt/notesMasters/notesMaster1.xml" Id="R85f2fd98ee2644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344d7684c64251" /><Relationship Type="http://schemas.openxmlformats.org/officeDocument/2006/relationships/notesMaster" Target="/ppt/notesMasters/notesMaster1.xml" Id="R07b0ee91abc749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ee400e3f944f0a" /><Relationship Type="http://schemas.openxmlformats.org/officeDocument/2006/relationships/notesMaster" Target="/ppt/notesMasters/notesMaster1.xml" Id="R30cbb40b3a674b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eb5b9055df4d72" /><Relationship Type="http://schemas.openxmlformats.org/officeDocument/2006/relationships/notesMaster" Target="/ppt/notesMasters/notesMaster1.xml" Id="Re6960e85b1df45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29aaf844d34886" /><Relationship Type="http://schemas.openxmlformats.org/officeDocument/2006/relationships/notesMaster" Target="/ppt/notesMasters/notesMaster1.xml" Id="R6d4f026c50cb4e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8404d6f1ff44bd" /><Relationship Type="http://schemas.openxmlformats.org/officeDocument/2006/relationships/notesMaster" Target="/ppt/notesMasters/notesMaster1.xml" Id="Rfc981969f09d49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94bb626b6a048e0" /><Relationship Type="http://schemas.openxmlformats.org/officeDocument/2006/relationships/notesMaster" Target="/ppt/notesMasters/notesMaster1.xml" Id="R7218de0118474d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a4c4106ed64f65" /><Relationship Type="http://schemas.openxmlformats.org/officeDocument/2006/relationships/notesMaster" Target="/ppt/notesMasters/notesMaster1.xml" Id="R84f17737658544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4b53f570c74658" /><Relationship Type="http://schemas.openxmlformats.org/officeDocument/2006/relationships/notesMaster" Target="/ppt/notesMasters/notesMaster1.xml" Id="R30c1724dadc843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58e13d78cf4d94" /><Relationship Type="http://schemas.openxmlformats.org/officeDocument/2006/relationships/notesMaster" Target="/ppt/notesMasters/notesMaster1.xml" Id="R70def5e724b948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e6ff7227004107" /><Relationship Type="http://schemas.openxmlformats.org/officeDocument/2006/relationships/notesMaster" Target="/ppt/notesMasters/notesMaster1.xml" Id="Re8a87bf399ab4b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a5391b210b4478" /><Relationship Type="http://schemas.openxmlformats.org/officeDocument/2006/relationships/notesMaster" Target="/ppt/notesMasters/notesMaster1.xml" Id="R7addd1d40759447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51b2fc49d744d1" /><Relationship Type="http://schemas.openxmlformats.org/officeDocument/2006/relationships/notesMaster" Target="/ppt/notesMasters/notesMaster1.xml" Id="Re9f195d176d147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18b9430ad14061" /><Relationship Type="http://schemas.openxmlformats.org/officeDocument/2006/relationships/notesMaster" Target="/ppt/notesMasters/notesMaster1.xml" Id="R4aa10035665b47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41620262a84795" /><Relationship Type="http://schemas.openxmlformats.org/officeDocument/2006/relationships/notesMaster" Target="/ppt/notesMasters/notesMaster1.xml" Id="Rb1cf8bd588124e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85bdaacd0f4024" /><Relationship Type="http://schemas.openxmlformats.org/officeDocument/2006/relationships/notesMaster" Target="/ppt/notesMasters/notesMaster1.xml" Id="R8cf7092949cd43c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f7e8a274fb4d47" /><Relationship Type="http://schemas.openxmlformats.org/officeDocument/2006/relationships/notesMaster" Target="/ppt/notesMasters/notesMaster1.xml" Id="Rf4f4d11c58e4484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e2dd5f00f74ca1" /><Relationship Type="http://schemas.openxmlformats.org/officeDocument/2006/relationships/notesMaster" Target="/ppt/notesMasters/notesMaster1.xml" Id="R59aa9ecadf80421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f508ee041b04661" /><Relationship Type="http://schemas.openxmlformats.org/officeDocument/2006/relationships/notesMaster" Target="/ppt/notesMasters/notesMaster1.xml" Id="Rfd27b2c2657a42d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092d16b86c407c" /><Relationship Type="http://schemas.openxmlformats.org/officeDocument/2006/relationships/notesMaster" Target="/ppt/notesMasters/notesMaster1.xml" Id="Rf2f910616a06467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b712272f7c44b40" /><Relationship Type="http://schemas.openxmlformats.org/officeDocument/2006/relationships/notesMaster" Target="/ppt/notesMasters/notesMaster1.xml" Id="R93e95cde2c484fa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caef92e8573466a" /><Relationship Type="http://schemas.openxmlformats.org/officeDocument/2006/relationships/notesMaster" Target="/ppt/notesMasters/notesMaster1.xml" Id="Rb0f226ab2df145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dk1"/>
                </a:solidFill>
                <a:latin typeface="Arial"/>
                <a:ea typeface="Arial"/>
                <a:cs typeface="Arial"/>
              </a:rPr>
              <a:t>https://github.com/TinyTapeout/tinytapeout-sky-26a/tree/main/projects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u="sng">
                <a:solidFill>
                  <a:schemeClr val="hlink"/>
                </a:solidFill>
                <a:latin typeface="Arial"/>
                <a:ea typeface="Arial"/>
                <a:cs typeface="Arial"/>
              </a:rPr>
              <a:t>https://skywater-pdk.readthedocs.io/en/main/rules/periphery.html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 accuracy/F1 are the frozen unseen-layout calibrated-threshold confirmation metrics; the candidate was rejected.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data/b1_current_audit/manifest.summary.json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data/b1_current_audit/label_audit_grid.png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results/b2_baselines/runs/tile_random_reference_seed_44.json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results/b2_baselines/runs/unseen_layout_v1_seed_44.json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Configuration d7fa939a1212; manifest 9deef1271a14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Three-seed per-layout aggregation for unseen_layout_v1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results/b3_optimization/b3_1_summary.json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Manifest 9deef1271a145198a60abccf291ec499d53226075b4ccfa2061a215afbd01472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Selection used unseen-layout validation only. Frozen tests were not inspected until the validation gate passed.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results/b2_baselines/summary.json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results/b3_optimization/extension_summary.json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results/b3_optimization/test/unseen_layout_v1__plateau_full__seed_42.json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results/b3_optimization/test/unseen_layout_v1__plateau_full__seed_43.json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results/b3_optimization/test/unseen_layout_v1__plateau_full__seed_44.json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candidate status is failed_confirmation; B2 remains the accepted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d2582e51ca492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7f859725a4d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0fa86c3c34af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575d1bd64454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b6efb67ce94d9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dd1857b8b4480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4855c724c140e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619b03926428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14193d98c34c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7d23f2129040f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4be2eac5054f67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3A1FEE28-DB47-4EF9-9CD1-CCB17C4F8A6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2">
            <a:extLst xmlns:a="http://schemas.openxmlformats.org/drawingml/2006/main">
              <a:ext uri="{FF2B5EF4-FFF2-40B4-BE49-F238E27FC236}">
                <a16:creationId xmlns:a16="http://schemas.microsoft.com/office/drawing/2014/main" id="{CAF12BFB-FDC9-4875-BE24-BEAE4F6776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8" name="Google Shape;18;p2">
            <a:extLst xmlns:a="http://schemas.openxmlformats.org/drawingml/2006/main">
              <a:ext uri="{FF2B5EF4-FFF2-40B4-BE49-F238E27FC236}">
                <a16:creationId xmlns:a16="http://schemas.microsoft.com/office/drawing/2014/main" id="{188F87BD-88E6-45C5-97CE-BB641B2E72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2">
            <a:extLst xmlns:a="http://schemas.openxmlformats.org/drawingml/2006/main">
              <a:ext uri="{FF2B5EF4-FFF2-40B4-BE49-F238E27FC236}">
                <a16:creationId xmlns:a16="http://schemas.microsoft.com/office/drawing/2014/main" id="{1C42363E-1DDD-46E7-85C8-7E291D84D8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2">
            <a:extLst xmlns:a="http://schemas.openxmlformats.org/drawingml/2006/main">
              <a:ext uri="{FF2B5EF4-FFF2-40B4-BE49-F238E27FC236}">
                <a16:creationId xmlns:a16="http://schemas.microsoft.com/office/drawing/2014/main" id="{BD1FE465-5D78-4A88-9032-03294F38A9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590363D3-6F89-4C3D-BCD0-3E3F785A2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0541B812-43D5-4B23-850D-E76E62236F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3">
            <a:extLst xmlns:a="http://schemas.openxmlformats.org/drawingml/2006/main">
              <a:ext uri="{FF2B5EF4-FFF2-40B4-BE49-F238E27FC236}">
                <a16:creationId xmlns:a16="http://schemas.microsoft.com/office/drawing/2014/main" id="{2F5866EA-4236-43FF-94A9-E4E1218E6E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3">
            <a:extLst xmlns:a="http://schemas.openxmlformats.org/drawingml/2006/main">
              <a:ext uri="{FF2B5EF4-FFF2-40B4-BE49-F238E27FC236}">
                <a16:creationId xmlns:a16="http://schemas.microsoft.com/office/drawing/2014/main" id="{EAB2B8A1-F83D-4E87-9A48-02833E123F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3">
            <a:extLst xmlns:a="http://schemas.openxmlformats.org/drawingml/2006/main">
              <a:ext uri="{FF2B5EF4-FFF2-40B4-BE49-F238E27FC236}">
                <a16:creationId xmlns:a16="http://schemas.microsoft.com/office/drawing/2014/main" id="{4C0F90C0-3695-45E1-A647-114D711FFE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3F866835-FCF3-455A-B4E3-2F0AA15EE4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4B0039FF-BF0D-4197-B8B1-BF3302DBEE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EDBF4417-6E9B-4351-BACB-8AF9DFE94B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DA9DACCA-F1C7-4FF9-81FC-5B4B08E0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07A69BCC-927D-4E94-8EFA-A8795E2BA7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611E7135-61D0-4075-9B24-D8B4303FA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C83F2251-9377-42FC-A001-AE53FB838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BD5C32AA-0344-4F3F-8C5F-E02B0ACA24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51D858CD-6C8F-471D-8032-274BB1549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6529CC9A-FA64-4317-B4F3-55720F194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ADEE7260-63EC-48A6-AF97-57CF09B5F5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CAEEE20A-EB33-41BE-AD09-768E72B3DD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55BBE4E9-0FEA-4B1B-B77C-0879F3F57E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F3725A43-D98A-4AD2-B98C-62234DDCF06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088D1FF3-6F27-433E-A0E0-FFD958088FB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746113AD-00E9-462C-9432-24E411BB44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93720B6C-9BE9-49E7-A5E8-84CAD2D250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6">
            <a:extLst xmlns:a="http://schemas.openxmlformats.org/drawingml/2006/main">
              <a:ext uri="{FF2B5EF4-FFF2-40B4-BE49-F238E27FC236}">
                <a16:creationId xmlns:a16="http://schemas.microsoft.com/office/drawing/2014/main" id="{E16E7863-DFAA-41ED-9977-AC8223A93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6">
            <a:extLst xmlns:a="http://schemas.openxmlformats.org/drawingml/2006/main">
              <a:ext uri="{FF2B5EF4-FFF2-40B4-BE49-F238E27FC236}">
                <a16:creationId xmlns:a16="http://schemas.microsoft.com/office/drawing/2014/main" id="{EFF31786-A4C5-43D9-AE26-70CCA54FD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9D1A6DE3-9341-400F-AAE5-F20736686D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62954F1F-74A2-48CC-AC73-5DC1C9A22E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E3C261D3-FE35-4A9F-B57F-C1C3DC64F69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186629B3-30EB-4595-A83C-DFAF673564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A4B711EB-9416-4623-883E-65205197BE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E8FB4F64-39D9-4BE9-8323-35D257ECBA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9448B1B2-0393-4804-BE41-E5159ED2D4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36641DDF-7E66-4660-9A07-5B66201A2D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60A0CF17-8D81-4722-AF91-1A7AA917C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4B441782-7617-4C68-B9DD-256861C0EB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72E5237B-D8EA-45E3-88C0-AD00BC6ADA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C57FB885-E119-4147-9F49-9157158749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050DD29F-6708-47B0-9631-31C86AEEDB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0">
            <a:extLst xmlns:a="http://schemas.openxmlformats.org/drawingml/2006/main">
              <a:ext uri="{FF2B5EF4-FFF2-40B4-BE49-F238E27FC236}">
                <a16:creationId xmlns:a16="http://schemas.microsoft.com/office/drawing/2014/main" id="{E1F90C3D-DA79-4643-B2C1-D95EF16F7C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B22DC19A-6418-433F-89AA-C0997E0A851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24C3DB2E-E94D-4BA9-8811-C343F408FA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9" name="Google Shape;69;p10">
            <a:extLst xmlns:a="http://schemas.openxmlformats.org/drawingml/2006/main">
              <a:ext uri="{FF2B5EF4-FFF2-40B4-BE49-F238E27FC236}">
                <a16:creationId xmlns:a16="http://schemas.microsoft.com/office/drawing/2014/main" id="{F9DD50EA-686C-476E-82EA-3EBDF5E495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0B32A72-4211-4E96-8DE5-43BDD502D1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96BABF51-66CE-408B-8FBC-86E9D642F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1">
            <a:extLst xmlns:a="http://schemas.openxmlformats.org/drawingml/2006/main">
              <a:ext uri="{FF2B5EF4-FFF2-40B4-BE49-F238E27FC236}">
                <a16:creationId xmlns:a16="http://schemas.microsoft.com/office/drawing/2014/main" id="{7EBBC291-8AFF-4218-8F35-49D91D5B97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1">
            <a:extLst xmlns:a="http://schemas.openxmlformats.org/drawingml/2006/main">
              <a:ext uri="{FF2B5EF4-FFF2-40B4-BE49-F238E27FC236}">
                <a16:creationId xmlns:a16="http://schemas.microsoft.com/office/drawing/2014/main" id="{C399C967-327A-4D1B-BB72-B6AA9EF52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229F0C8B-0B1E-418A-9A01-39DA13AF54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9F830AC1-C89A-46FC-93A1-FCF24D4BE7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2E821FE5-C455-4E09-A029-4A03057B08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2">
            <a:extLst xmlns:a="http://schemas.openxmlformats.org/drawingml/2006/main">
              <a:ext uri="{FF2B5EF4-FFF2-40B4-BE49-F238E27FC236}">
                <a16:creationId xmlns:a16="http://schemas.microsoft.com/office/drawing/2014/main" id="{A520932C-73D9-4619-B363-EC2B0C023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2">
            <a:extLst xmlns:a="http://schemas.openxmlformats.org/drawingml/2006/main">
              <a:ext uri="{FF2B5EF4-FFF2-40B4-BE49-F238E27FC236}">
                <a16:creationId xmlns:a16="http://schemas.microsoft.com/office/drawing/2014/main" id="{32BF5B87-792E-473C-8932-DB08D20C1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816CA3CE-E2D9-41AD-8A24-FD27B79BAE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1E8E4511-3C73-4D5D-B61F-3E37E67094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DA50A2D4-5E45-4C05-9DA9-2365A92BF9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6b4046608b4c00" /><Relationship Type="http://schemas.openxmlformats.org/officeDocument/2006/relationships/slideLayout" Target="/ppt/slideLayouts/slideLayout1.xml" Id="R4d6153bd9f074abe" /><Relationship Type="http://schemas.openxmlformats.org/officeDocument/2006/relationships/slideLayout" Target="/ppt/slideLayouts/slideLayout2.xml" Id="Rc8b378f395e0463f" /><Relationship Type="http://schemas.openxmlformats.org/officeDocument/2006/relationships/slideLayout" Target="/ppt/slideLayouts/slideLayout3.xml" Id="R169bc14220544859" /><Relationship Type="http://schemas.openxmlformats.org/officeDocument/2006/relationships/slideLayout" Target="/ppt/slideLayouts/slideLayout4.xml" Id="R5d7cc040c9a34c43" /><Relationship Type="http://schemas.openxmlformats.org/officeDocument/2006/relationships/slideLayout" Target="/ppt/slideLayouts/slideLayout5.xml" Id="R426f2a5b84e64c4a" /><Relationship Type="http://schemas.openxmlformats.org/officeDocument/2006/relationships/slideLayout" Target="/ppt/slideLayouts/slideLayout6.xml" Id="Rb0570727b7104115" /><Relationship Type="http://schemas.openxmlformats.org/officeDocument/2006/relationships/slideLayout" Target="/ppt/slideLayouts/slideLayout7.xml" Id="R9919d22da0eb4cda" /><Relationship Type="http://schemas.openxmlformats.org/officeDocument/2006/relationships/slideLayout" Target="/ppt/slideLayouts/slideLayout8.xml" Id="Rd287dd38f4494cc1" /><Relationship Type="http://schemas.openxmlformats.org/officeDocument/2006/relationships/slideLayout" Target="/ppt/slideLayouts/slideLayout9.xml" Id="R79c1d26f4ea74b5c" /><Relationship Type="http://schemas.openxmlformats.org/officeDocument/2006/relationships/slideLayout" Target="/ppt/slideLayouts/slideLayout10.xml" Id="R741d7db685464de3" /><Relationship Type="http://schemas.openxmlformats.org/officeDocument/2006/relationships/slideLayout" Target="/ppt/slideLayouts/slideLayout11.xml" Id="R9502d669b833427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">
            <a:extLst xmlns:a="http://schemas.openxmlformats.org/drawingml/2006/main">
              <a:ext uri="{FF2B5EF4-FFF2-40B4-BE49-F238E27FC236}">
                <a16:creationId xmlns:a16="http://schemas.microsoft.com/office/drawing/2014/main" id="{898084C6-D9C5-4097-BA03-1FC74CCDF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">
            <a:extLst xmlns:a="http://schemas.openxmlformats.org/drawingml/2006/main">
              <a:ext uri="{FF2B5EF4-FFF2-40B4-BE49-F238E27FC236}">
                <a16:creationId xmlns:a16="http://schemas.microsoft.com/office/drawing/2014/main" id="{9A53BB78-460E-432A-BA70-EED9A3BA16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" name="Google Shape;12;p1">
            <a:extLst xmlns:a="http://schemas.openxmlformats.org/drawingml/2006/main">
              <a:ext uri="{FF2B5EF4-FFF2-40B4-BE49-F238E27FC236}">
                <a16:creationId xmlns:a16="http://schemas.microsoft.com/office/drawing/2014/main" id="{C3D8055F-BF09-4402-BAB6-48F5B07BD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" name="Google Shape;13;p1">
            <a:extLst xmlns:a="http://schemas.openxmlformats.org/drawingml/2006/main">
              <a:ext uri="{FF2B5EF4-FFF2-40B4-BE49-F238E27FC236}">
                <a16:creationId xmlns:a16="http://schemas.microsoft.com/office/drawing/2014/main" id="{8BF64F14-739B-40AA-9C90-9954278FB8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1">
            <a:extLst xmlns:a="http://schemas.openxmlformats.org/drawingml/2006/main">
              <a:ext uri="{FF2B5EF4-FFF2-40B4-BE49-F238E27FC236}">
                <a16:creationId xmlns:a16="http://schemas.microsoft.com/office/drawing/2014/main" id="{E2EC5056-04E4-4A15-93F0-236EC48DFF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6153bd9f074abe"/>
    <p:sldLayoutId xmlns:r="http://schemas.openxmlformats.org/officeDocument/2006/relationships" id="2147483650" r:id="Rc8b378f395e0463f"/>
    <p:sldLayoutId xmlns:r="http://schemas.openxmlformats.org/officeDocument/2006/relationships" id="2147483651" r:id="R169bc14220544859"/>
    <p:sldLayoutId xmlns:r="http://schemas.openxmlformats.org/officeDocument/2006/relationships" id="2147483652" r:id="R5d7cc040c9a34c43"/>
    <p:sldLayoutId xmlns:r="http://schemas.openxmlformats.org/officeDocument/2006/relationships" id="2147483653" r:id="R426f2a5b84e64c4a"/>
    <p:sldLayoutId xmlns:r="http://schemas.openxmlformats.org/officeDocument/2006/relationships" id="2147483654" r:id="Rb0570727b7104115"/>
    <p:sldLayoutId xmlns:r="http://schemas.openxmlformats.org/officeDocument/2006/relationships" id="2147483655" r:id="R9919d22da0eb4cda"/>
    <p:sldLayoutId xmlns:r="http://schemas.openxmlformats.org/officeDocument/2006/relationships" id="2147483656" r:id="Rd287dd38f4494cc1"/>
    <p:sldLayoutId xmlns:r="http://schemas.openxmlformats.org/officeDocument/2006/relationships" id="2147483657" r:id="R79c1d26f4ea74b5c"/>
    <p:sldLayoutId xmlns:r="http://schemas.openxmlformats.org/officeDocument/2006/relationships" id="2147483658" r:id="R741d7db685464de3"/>
    <p:sldLayoutId xmlns:r="http://schemas.openxmlformats.org/officeDocument/2006/relationships" id="2147483659" r:id="R9502d669b8334273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a2cce5a9748c0" /><Relationship Type="http://schemas.openxmlformats.org/officeDocument/2006/relationships/notesSlide" Target="/ppt/notesSlides/notesSlide1.xml" Id="R80ec28a4e8b44a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0f93bf6924645" /><Relationship Type="http://schemas.openxmlformats.org/officeDocument/2006/relationships/notesSlide" Target="/ppt/notesSlides/notesSlide2.xml" Id="R8af4eb83c1bc4c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ec7c3aa544834" /><Relationship Type="http://schemas.openxmlformats.org/officeDocument/2006/relationships/image" Target="/ppt/media/image.png" Id="R05624123856446b6" /><Relationship Type="http://schemas.openxmlformats.org/officeDocument/2006/relationships/image" Target="/ppt/media/image2.png" Id="Rd588cc2287e2422f" /><Relationship Type="http://schemas.openxmlformats.org/officeDocument/2006/relationships/image" Target="/ppt/media/image3.png" Id="Rf1956eb7f2ac4b04" /><Relationship Type="http://schemas.openxmlformats.org/officeDocument/2006/relationships/notesSlide" Target="/ppt/notesSlides/notesSlide3.xml" Id="R68fdddd4453145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2c466db10d4717" /><Relationship Type="http://schemas.openxmlformats.org/officeDocument/2006/relationships/notesSlide" Target="/ppt/notesSlides/notesSlide4.xml" Id="Rc42c97f7800348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71f0fd37cd445f" /><Relationship Type="http://schemas.openxmlformats.org/officeDocument/2006/relationships/image" Target="/ppt/media/image4.png" Id="Rcaa465c50f1943fd" /><Relationship Type="http://schemas.openxmlformats.org/officeDocument/2006/relationships/image" Target="/ppt/media/image5.png" Id="R6ef0dab989044a34" /><Relationship Type="http://schemas.openxmlformats.org/officeDocument/2006/relationships/image" Target="/ppt/media/image6.png" Id="R8f2b287a4829403c" /><Relationship Type="http://schemas.openxmlformats.org/officeDocument/2006/relationships/image" Target="/ppt/media/image7.png" Id="R983a6350130546ec" /><Relationship Type="http://schemas.openxmlformats.org/officeDocument/2006/relationships/image" Target="/ppt/media/image8.png" Id="Rda7d3146761a4f0c" /><Relationship Type="http://schemas.openxmlformats.org/officeDocument/2006/relationships/image" Target="/ppt/media/image9.png" Id="Rae256137b6e24791" /><Relationship Type="http://schemas.openxmlformats.org/officeDocument/2006/relationships/image" Target="/ppt/media/image10.png" Id="R4b51d6b343154d4e" /><Relationship Type="http://schemas.openxmlformats.org/officeDocument/2006/relationships/image" Target="/ppt/media/image11.png" Id="Rfff9e896a66d4b11" /><Relationship Type="http://schemas.openxmlformats.org/officeDocument/2006/relationships/notesSlide" Target="/ppt/notesSlides/notesSlide5.xml" Id="R001ea54e1b414b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b32a33e7a043d9" /><Relationship Type="http://schemas.openxmlformats.org/officeDocument/2006/relationships/image" Target="/ppt/media/image12.png" Id="Re98ae2e5070e4a07" /><Relationship Type="http://schemas.openxmlformats.org/officeDocument/2006/relationships/image" Target="/ppt/media/image13.png" Id="Rea4cc94a09c147be" /><Relationship Type="http://schemas.openxmlformats.org/officeDocument/2006/relationships/notesSlide" Target="/ppt/notesSlides/notesSlide6.xml" Id="Rb1b8451c36c745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f517dd4cb542de" /><Relationship Type="http://schemas.openxmlformats.org/officeDocument/2006/relationships/image" Target="/ppt/media/image14.png" Id="R51736ca1f5f341bb" /><Relationship Type="http://schemas.openxmlformats.org/officeDocument/2006/relationships/image" Target="/ppt/media/image15.png" Id="Ree673e0337e54f75" /><Relationship Type="http://schemas.openxmlformats.org/officeDocument/2006/relationships/image" Target="/ppt/media/image16.png" Id="R6af6b761480e4a32" /><Relationship Type="http://schemas.openxmlformats.org/officeDocument/2006/relationships/notesSlide" Target="/ppt/notesSlides/notesSlide7.xml" Id="Rc7b8613cbc3945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39252bf1524a29" /><Relationship Type="http://schemas.openxmlformats.org/officeDocument/2006/relationships/notesSlide" Target="/ppt/notesSlides/notesSlide8.xml" Id="R9bded9f9f23c439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9b89d1dbd324585" /><Relationship Type="http://schemas.openxmlformats.org/officeDocument/2006/relationships/notesSlide" Target="/ppt/notesSlides/notesSlide9.xml" Id="R3d923288823f48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50b1b7d30004614" /><Relationship Type="http://schemas.openxmlformats.org/officeDocument/2006/relationships/notesSlide" Target="/ppt/notesSlides/notesSlide10.xml" Id="R50a8d3ce0aca4c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911e419b1244f1c" /><Relationship Type="http://schemas.openxmlformats.org/officeDocument/2006/relationships/notesSlide" Target="/ppt/notesSlides/notesSlide11.xml" Id="R6cd63c8d1a744e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26efc84fdf41cb" /><Relationship Type="http://schemas.openxmlformats.org/officeDocument/2006/relationships/notesSlide" Target="/ppt/notesSlides/notesSlide12.xml" Id="Ra3258978f8e94f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5e63ff49ab44eb8" /><Relationship Type="http://schemas.openxmlformats.org/officeDocument/2006/relationships/notesSlide" Target="/ppt/notesSlides/notesSlide13.xml" Id="Rf8937a96e7f948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c8750d8c4bf48b7" /><Relationship Type="http://schemas.openxmlformats.org/officeDocument/2006/relationships/notesSlide" Target="/ppt/notesSlides/notesSlide14.xml" Id="R29f1f5b5c9e0451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225b03207664c7b" /><Relationship Type="http://schemas.openxmlformats.org/officeDocument/2006/relationships/notesSlide" Target="/ppt/notesSlides/notesSlide15.xml" Id="R19b4549ddf1848c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3531834c8e4570" /><Relationship Type="http://schemas.openxmlformats.org/officeDocument/2006/relationships/notesSlide" Target="/ppt/notesSlides/notesSlide16.xml" Id="Rfde4440adbb24b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e7a3d0b5d584b68" /><Relationship Type="http://schemas.openxmlformats.org/officeDocument/2006/relationships/notesSlide" Target="/ppt/notesSlides/notesSlide17.xml" Id="Rb2200da890a4485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3d55b71bfe4fd2" /><Relationship Type="http://schemas.openxmlformats.org/officeDocument/2006/relationships/image" Target="/ppt/media/image12.png" Id="R9f764e9467b44ea4" /><Relationship Type="http://schemas.openxmlformats.org/officeDocument/2006/relationships/image" Target="/ppt/media/image13.png" Id="Rcd75fbefed1845f8" /><Relationship Type="http://schemas.openxmlformats.org/officeDocument/2006/relationships/notesSlide" Target="/ppt/notesSlides/notesSlide18.xml" Id="Rd09b0c0fd161432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aa8f573fed418e" /><Relationship Type="http://schemas.openxmlformats.org/officeDocument/2006/relationships/notesSlide" Target="/ppt/notesSlides/notesSlide19.xml" Id="R25265611299f408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7080fe1916047a0" /><Relationship Type="http://schemas.openxmlformats.org/officeDocument/2006/relationships/notesSlide" Target="/ppt/notesSlides/notesSlide20.xml" Id="R325972ccc9ec412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85c55dcb334ab4" /><Relationship Type="http://schemas.openxmlformats.org/officeDocument/2006/relationships/notesSlide" Target="/ppt/notesSlides/notesSlide21.xml" Id="R02952cce44b34ac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320c63273234adc" /><Relationship Type="http://schemas.openxmlformats.org/officeDocument/2006/relationships/notesSlide" Target="/ppt/notesSlides/notesSlide22.xml" Id="Rab70144135ff4a0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3">
            <a:extLst xmlns:a="http://schemas.openxmlformats.org/drawingml/2006/main">
              <a:ext uri="{FF2B5EF4-FFF2-40B4-BE49-F238E27FC236}">
                <a16:creationId xmlns:a16="http://schemas.microsoft.com/office/drawing/2014/main" id="{F599BA1A-826B-4E0A-B651-507C884F6C6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ADVLSI2 2026</a:t>
            </a:r>
          </a:p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Progress</a:t>
            </a:r>
          </a:p>
        </p:txBody>
      </p:sp>
      <p:sp>
        <p:nvSpPr>
          <p:cNvPr id="89" name="Google Shape;89;p13">
            <a:extLst xmlns:a="http://schemas.openxmlformats.org/drawingml/2006/main">
              <a:ext uri="{FF2B5EF4-FFF2-40B4-BE49-F238E27FC236}">
                <a16:creationId xmlns:a16="http://schemas.microsoft.com/office/drawing/2014/main" id="{D7831688-1546-4ECC-9C53-7596951CE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CNN-based DRC | B0–B3 complete · B4 next</a:t>
            </a:r>
          </a:p>
        </p:txBody>
      </p:sp>
    </p:spTree>
    <p:extLst>
      <p:ext uri="{BB962C8B-B14F-4D97-AF65-F5344CB8AC3E}">
        <p14:creationId xmlns:p14="http://schemas.microsoft.com/office/powerpoint/2010/main" val="19461769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Google Shape;94;p14">
            <a:extLst xmlns:a="http://schemas.openxmlformats.org/drawingml/2006/main">
              <a:ext uri="{FF2B5EF4-FFF2-40B4-BE49-F238E27FC236}">
                <a16:creationId xmlns:a16="http://schemas.microsoft.com/office/drawing/2014/main" id="{A5E1D0C4-9937-43DB-9840-B994323AC5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Motivation</a:t>
            </a:r>
          </a:p>
        </p:txBody>
      </p:sp>
      <p:sp>
        <p:nvSpPr>
          <p:cNvPr id="95" name="Google Shape;95;p14">
            <a:extLst xmlns:a="http://schemas.openxmlformats.org/drawingml/2006/main">
              <a:ext uri="{FF2B5EF4-FFF2-40B4-BE49-F238E27FC236}">
                <a16:creationId xmlns:a16="http://schemas.microsoft.com/office/drawing/2014/main" id="{D5FE4B39-E8DA-42C5-BDD4-310A45150C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 fontScale="70000" lnSpcReduction="20000"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t>The number of rules has grown from a few hundred in 60</a:t>
            </a:r>
            <a:r>
              <a:rPr i="1"/>
              <a:t>nm </a:t>
            </a:r>
            <a:r>
              <a:t>nodes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>    to thousands of complex rules in 7</a:t>
            </a:r>
            <a:r>
              <a:rPr i="1"/>
              <a:t>nm </a:t>
            </a:r>
            <a:r>
              <a:t>nodes. </a:t>
            </a:r>
          </a:p>
          <a:p xmlns:a="http://schemas.openxmlformats.org/drawingml/2006/main">
            <a:pPr marL="228600" indent="-10414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DRC checking is often slow and iterative process with traditional tools that runs many mathematical Boolean operations.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t>The speed of the rule checker has become a critical point in layout generation of custom circuits.</a:t>
            </a:r>
            <a:br/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b="1"/>
              <a:t>Real Time ML based DRC checker </a:t>
            </a:r>
            <a:r>
              <a:t>can help to speed up the design rule checking process because a neural network does not have to iterate over thousands of Boolean operations.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680712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15">
            <a:extLst xmlns:a="http://schemas.openxmlformats.org/drawingml/2006/main">
              <a:ext uri="{FF2B5EF4-FFF2-40B4-BE49-F238E27FC236}">
                <a16:creationId xmlns:a16="http://schemas.microsoft.com/office/drawing/2014/main" id="{A4ACBD77-30FC-4923-9D58-4C198E8C4A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Article Review</a:t>
            </a:r>
          </a:p>
        </p:txBody>
      </p:sp>
      <p:pic>
        <p:nvPicPr>
          <p:cNvPr id="109" name="Google Shape;102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624123856446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94160" y="2841500"/>
            <a:ext cx="3519087" cy="18052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0" name="Google Shape;103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88cc2287e242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20254" y="4794996"/>
            <a:ext cx="3066898" cy="126844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15">
            <a:extLst xmlns:a="http://schemas.openxmlformats.org/drawingml/2006/main">
              <a:ext uri="{FF2B5EF4-FFF2-40B4-BE49-F238E27FC236}">
                <a16:creationId xmlns:a16="http://schemas.microsoft.com/office/drawing/2014/main" id="{589C1DBB-C38B-4C23-8F95-F24BE6AE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9758"/>
            <a:ext cx="6096000" cy="6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50 DRC free SRAM designs designed using the 15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nm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free</a:t>
            </a:r>
            <a:r>
              <a:rPr sz="2000" b="0" i="1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 </a:t>
            </a: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PDK.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5,000 variants of these designs were auto-generate using random parameters - total of  ~ 250,000 layout clips.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Target was to detect 3 different violation types.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100,000 clips used for Training, 15,000 for Validation, and 5,000 for Testing.</a:t>
            </a:r>
          </a:p>
          <a:p xmlns:a="http://schemas.openxmlformats.org/drawingml/2006/main">
            <a:pPr marL="285750" indent="-1587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Training took ~7 minutes on a standard 6-core CPU (no GPU acceleration required). 92% accuracy rate was achieved.</a:t>
            </a:r>
            <a:br/>
            <a:br/>
            <a:br/>
            <a:br/>
          </a:p>
          <a:p xmlns:a="http://schemas.openxmlformats.org/drawingml/2006/main">
            <a:pPr marL="285750" indent="-17145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12" name="Google Shape;105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956eb7f2ac4b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889007" y="1842346"/>
            <a:ext cx="3464793" cy="762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13463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012B65CD-9843-438D-A8C4-87E777DC3C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Proposal</a:t>
            </a:r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5FD51E6B-84BF-4FEA-B8B2-5C14878C6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Make our POC using mature node open source PDK – for example SkyWater 130nm.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Focus only on one DRC violation- 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2400"/>
              <a:t>   for example: “m1.2  - m1 to m1 spacing &gt; 140nm”.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Layout data – Found “Tiny Tapout”  free github database but may need to explore for additional sources.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Project maybe expanded in the future to combine also DRC fixing.</a:t>
            </a:r>
            <a:br/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br/>
          </a:p>
        </p:txBody>
      </p:sp>
    </p:spTree>
    <p:extLst>
      <p:ext uri="{BB962C8B-B14F-4D97-AF65-F5344CB8AC3E}">
        <p14:creationId xmlns:p14="http://schemas.microsoft.com/office/powerpoint/2010/main" val="8352962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C700C7D5-AF9E-495B-872B-E89D277CC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6280" y="151531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Dataset Generation Example - Sky130 Layout </a:t>
            </a:r>
          </a:p>
        </p:txBody>
      </p:sp>
      <p:pic>
        <p:nvPicPr>
          <p:cNvPr id="501" name="Google Shape;119;p17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caa465c50f1943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5613" y="2488229"/>
            <a:ext cx="1462288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502" name="Google Shape;12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f0dab989044a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883105" y="2488229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pic>
        <p:nvPicPr>
          <p:cNvPr id="503" name="Google Shape;122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2b287a482940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14413" y="1276774"/>
            <a:ext cx="785746" cy="1446197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23" name="Google Shape;123;p17">
            <a:extLst xmlns:a="http://schemas.openxmlformats.org/drawingml/2006/main">
              <a:ext uri="{FF2B5EF4-FFF2-40B4-BE49-F238E27FC236}">
                <a16:creationId xmlns:a16="http://schemas.microsoft.com/office/drawing/2014/main" id="{7F4B0D21-6A54-466D-BF67-CBF9B7EB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3695" y="158390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4" name="Google Shape;124;p17">
            <a:extLst xmlns:a="http://schemas.openxmlformats.org/drawingml/2006/main">
              <a:ext uri="{FF2B5EF4-FFF2-40B4-BE49-F238E27FC236}">
                <a16:creationId xmlns:a16="http://schemas.microsoft.com/office/drawing/2014/main" id="{634FD96A-A5E9-4031-8113-5112734B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7286" y="166581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5" name="Google Shape;125;p17">
            <a:extLst xmlns:a="http://schemas.openxmlformats.org/drawingml/2006/main">
              <a:ext uri="{FF2B5EF4-FFF2-40B4-BE49-F238E27FC236}">
                <a16:creationId xmlns:a16="http://schemas.microsoft.com/office/drawing/2014/main" id="{CEBA2C2A-C127-4E2A-AAAC-66FAF4D1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48231" y="143531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17">
            <a:extLst xmlns:a="http://schemas.openxmlformats.org/drawingml/2006/main">
              <a:ext uri="{FF2B5EF4-FFF2-40B4-BE49-F238E27FC236}">
                <a16:creationId xmlns:a16="http://schemas.microsoft.com/office/drawing/2014/main" id="{1AE93747-89C2-4FC0-8BCE-0A143CC3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1688" y="1679154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7" name="Google Shape;127;p17">
            <a:extLst xmlns:a="http://schemas.openxmlformats.org/drawingml/2006/main">
              <a:ext uri="{FF2B5EF4-FFF2-40B4-BE49-F238E27FC236}">
                <a16:creationId xmlns:a16="http://schemas.microsoft.com/office/drawing/2014/main" id="{8B9DE854-1F8A-4C6C-BCCA-AF377CC2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3613" y="2629749"/>
            <a:ext cx="81915" cy="12192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509" name="Google Shape;128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f0dab989044a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50078" y="2488231"/>
            <a:ext cx="1480851" cy="1913915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cxnSp>
        <p:nvCxnSpPr>
          <p:cNvPr id="510" name="Google Shape;129;p17"/>
          <p:cNvCxnSpPr/>
          <p:nvPr/>
        </p:nvCxnSpPr>
        <p:spPr>
          <a:xfrm xmlns:a="http://schemas.openxmlformats.org/drawingml/2006/main" rot="10800000" flipH="1">
            <a:off x="5878159" y="1276774"/>
            <a:ext cx="1032920" cy="2120426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511" name="Google Shape;130;p17"/>
          <p:cNvCxnSpPr/>
          <p:nvPr/>
        </p:nvCxnSpPr>
        <p:spPr>
          <a:xfrm xmlns:a="http://schemas.openxmlformats.org/drawingml/2006/main" rot="10800000" flipH="1">
            <a:off x="5878159" y="2722971"/>
            <a:ext cx="1032920" cy="67422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dk1"/>
            </a:solidFill>
            <a:prstDash val="solid"/>
            <a:miter/>
            <a:headEnd type="none" w="sm" len="sm"/>
            <a:tailEnd type="none" w="sm" len="sm"/>
          </a:ln>
        </p:spPr>
      </p:cxnSp>
      <p:pic>
        <p:nvPicPr>
          <p:cNvPr id="512" name="Google Shape;131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3a6350130546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6385" y="4491620"/>
            <a:ext cx="1509203" cy="1913914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chemeClr val="dk1"/>
            </a:solidFill>
            <a:prstDash val="solid"/>
            <a:round/>
          </a:ln>
        </p:spPr>
      </p:pic>
      <p:sp>
        <p:nvSpPr>
          <p:cNvPr id="132" name="Google Shape;132;p17">
            <a:extLst xmlns:a="http://schemas.openxmlformats.org/drawingml/2006/main">
              <a:ext uri="{FF2B5EF4-FFF2-40B4-BE49-F238E27FC236}">
                <a16:creationId xmlns:a16="http://schemas.microsoft.com/office/drawing/2014/main" id="{0C09FABB-4FC5-41C6-948A-F935A6BF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7629" y="3235281"/>
            <a:ext cx="1480852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Run DRC</a:t>
            </a:r>
          </a:p>
        </p:txBody>
      </p:sp>
      <p:sp>
        <p:nvSpPr>
          <p:cNvPr id="133" name="Google Shape;133;p17">
            <a:extLst xmlns:a="http://schemas.openxmlformats.org/drawingml/2006/main">
              <a:ext uri="{FF2B5EF4-FFF2-40B4-BE49-F238E27FC236}">
                <a16:creationId xmlns:a16="http://schemas.microsoft.com/office/drawing/2014/main" id="{4D76119E-5094-48B3-A675-13172F4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957" y="3894921"/>
            <a:ext cx="1952060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Create Error Mask</a:t>
            </a:r>
          </a:p>
        </p:txBody>
      </p:sp>
      <p:sp>
        <p:nvSpPr>
          <p:cNvPr id="134" name="Google Shape;134;p17">
            <a:extLst xmlns:a="http://schemas.openxmlformats.org/drawingml/2006/main">
              <a:ext uri="{FF2B5EF4-FFF2-40B4-BE49-F238E27FC236}">
                <a16:creationId xmlns:a16="http://schemas.microsoft.com/office/drawing/2014/main" id="{4958EDB5-D328-47E0-93D7-8B5A28BC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7561" y="2336987"/>
            <a:ext cx="1480851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DRC Error Report 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(XML file)</a:t>
            </a:r>
          </a:p>
        </p:txBody>
      </p:sp>
      <p:sp>
        <p:nvSpPr>
          <p:cNvPr id="135" name="Google Shape;135;p17">
            <a:extLst xmlns:a="http://schemas.openxmlformats.org/drawingml/2006/main">
              <a:ext uri="{FF2B5EF4-FFF2-40B4-BE49-F238E27FC236}">
                <a16:creationId xmlns:a16="http://schemas.microsoft.com/office/drawing/2014/main" id="{9F8FB152-BAEE-42D6-80B9-2DF3E51E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80" y="5263911"/>
            <a:ext cx="930993" cy="3693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Corp </a:t>
            </a:r>
          </a:p>
        </p:txBody>
      </p:sp>
      <p:pic>
        <p:nvPicPr>
          <p:cNvPr id="517" name="Google Shape;136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7d3146761a4f0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3540" y="4495839"/>
            <a:ext cx="945125" cy="79116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18" name="Google Shape;13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256137b6e2479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88913" y="5422301"/>
            <a:ext cx="945124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17">
            <a:extLst xmlns:a="http://schemas.openxmlformats.org/drawingml/2006/main">
              <a:ext uri="{FF2B5EF4-FFF2-40B4-BE49-F238E27FC236}">
                <a16:creationId xmlns:a16="http://schemas.microsoft.com/office/drawing/2014/main" id="{F7222F07-CA91-4FFC-B44D-0B414002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1541" y="4918105"/>
            <a:ext cx="1631329" cy="923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Data Classification &amp; Balancing </a:t>
            </a:r>
          </a:p>
        </p:txBody>
      </p:sp>
      <p:pic>
        <p:nvPicPr>
          <p:cNvPr id="520" name="Google Shape;139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51d6b343154d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084576" y="4850009"/>
            <a:ext cx="473501" cy="7106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21" name="Google Shape;140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f9e896a66d4b1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19085" y="5717304"/>
            <a:ext cx="438992" cy="8003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1" name="Google Shape;141;p17">
            <a:extLst xmlns:a="http://schemas.openxmlformats.org/drawingml/2006/main">
              <a:ext uri="{FF2B5EF4-FFF2-40B4-BE49-F238E27FC236}">
                <a16:creationId xmlns:a16="http://schemas.microsoft.com/office/drawing/2014/main" id="{95493A25-3E5E-47EC-8662-9ECFACAB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509" y="5099135"/>
            <a:ext cx="1613375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chemeClr val="dk1"/>
                </a:solidFill>
                <a:latin typeface="Arial"/>
                <a:ea typeface="Arial"/>
                <a:cs typeface="Arial"/>
              </a:rPr>
              <a:t>Convert to Matrices</a:t>
            </a:r>
          </a:p>
        </p:txBody>
      </p:sp>
      <p:sp>
        <p:nvSpPr>
          <p:cNvPr id="142" name="Google Shape;142;p17">
            <a:extLst xmlns:a="http://schemas.openxmlformats.org/drawingml/2006/main">
              <a:ext uri="{FF2B5EF4-FFF2-40B4-BE49-F238E27FC236}">
                <a16:creationId xmlns:a16="http://schemas.microsoft.com/office/drawing/2014/main" id="{3C80207F-9F37-4B55-9039-09DFF589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979" y="4981139"/>
            <a:ext cx="1047073" cy="10618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  <p:cxnSp>
        <p:nvCxnSpPr>
          <p:cNvPr id="524" name="Google Shape;143;p17"/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347901" y="3445187"/>
            <a:ext cx="535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25" name="Google Shape;144;p17"/>
          <p:cNvCxnSpPr>
            <a:endCxn xmlns:a="http://schemas.openxmlformats.org/drawingml/2006/main" id="128" idx="1"/>
          </p:cNvCxnSpPr>
          <p:nvPr/>
        </p:nvCxnSpPr>
        <p:spPr>
          <a:xfrm xmlns:a="http://schemas.openxmlformats.org/drawingml/2006/main">
            <a:off x="4363978" y="3445189"/>
            <a:ext cx="686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26" name="Google Shape;145;p17"/>
          <p:cNvCxnSpPr>
            <a:endCxn xmlns:a="http://schemas.openxmlformats.org/drawingml/2006/main" id="132" idx="1"/>
          </p:cNvCxnSpPr>
          <p:nvPr/>
        </p:nvCxnSpPr>
        <p:spPr>
          <a:xfrm xmlns:a="http://schemas.openxmlformats.org/drawingml/2006/main">
            <a:off x="6531029" y="3419947"/>
            <a:ext cx="846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27" name="Google Shape;146;p17"/>
          <p:cNvCxnSpPr>
            <a:endCxn xmlns:a="http://schemas.openxmlformats.org/drawingml/2006/main" id="135" idx="3"/>
          </p:cNvCxnSpPr>
          <p:nvPr/>
        </p:nvCxnSpPr>
        <p:spPr>
          <a:xfrm xmlns:a="http://schemas.openxmlformats.org/drawingml/2006/main" rot="10800000">
            <a:off x="9571073" y="5448577"/>
            <a:ext cx="55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28" name="Google Shape;147;p17"/>
          <p:cNvCxnSpPr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21977" y="3937311"/>
            <a:ext cx="2583600" cy="13266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29" name="Google Shape;148;p17"/>
          <p:cNvCxnSpPr>
            <a:stCxn xmlns:a="http://schemas.openxmlformats.org/drawingml/2006/main" id="132" idx="3"/>
            <a:endCxn xmlns:a="http://schemas.openxmlformats.org/drawingml/2006/main" id="133" idx="0"/>
          </p:cNvCxnSpPr>
          <p:nvPr/>
        </p:nvCxnSpPr>
        <p:spPr>
          <a:xfrm xmlns:a="http://schemas.openxmlformats.org/drawingml/2006/main">
            <a:off x="8858481" y="3419947"/>
            <a:ext cx="2022600" cy="474900"/>
          </a:xfrm>
          <a:prstGeom xmlns:a="http://schemas.openxmlformats.org/drawingml/2006/main" prst="bentConnector2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0" name="Google Shape;149;p17"/>
          <p:cNvCxnSpPr>
            <a:stCxn xmlns:a="http://schemas.openxmlformats.org/drawingml/2006/main" id="133" idx="2"/>
            <a:endCxn xmlns:a="http://schemas.openxmlformats.org/drawingml/2006/main" id="131" idx="0"/>
          </p:cNvCxnSpPr>
          <p:nvPr/>
        </p:nvCxnSpPr>
        <p:spPr>
          <a:xfrm xmlns:a="http://schemas.openxmlformats.org/drawingml/2006/main">
            <a:off x="10880987" y="4264253"/>
            <a:ext cx="0" cy="2274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1" name="Google Shape;150;p17"/>
          <p:cNvCxnSpPr>
            <a:stCxn xmlns:a="http://schemas.openxmlformats.org/drawingml/2006/main" id="135" idx="1"/>
            <a:endCxn xmlns:a="http://schemas.openxmlformats.org/drawingml/2006/main" id="136" idx="3"/>
          </p:cNvCxnSpPr>
          <p:nvPr/>
        </p:nvCxnSpPr>
        <p:spPr>
          <a:xfrm xmlns:a="http://schemas.openxmlformats.org/drawingml/2006/main" rot="10800000">
            <a:off x="8128580" y="4891477"/>
            <a:ext cx="511500" cy="5571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2" name="Google Shape;151;p17"/>
          <p:cNvCxnSpPr>
            <a:stCxn xmlns:a="http://schemas.openxmlformats.org/drawingml/2006/main" id="135" idx="1"/>
            <a:endCxn xmlns:a="http://schemas.openxmlformats.org/drawingml/2006/main" id="137" idx="3"/>
          </p:cNvCxnSpPr>
          <p:nvPr/>
        </p:nvCxnSpPr>
        <p:spPr>
          <a:xfrm xmlns:a="http://schemas.openxmlformats.org/drawingml/2006/main" flipH="1">
            <a:off x="8133980" y="5448577"/>
            <a:ext cx="506100" cy="373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3" name="Google Shape;152;p17"/>
          <p:cNvCxnSpPr/>
          <p:nvPr/>
        </p:nvCxnSpPr>
        <p:spPr>
          <a:xfrm xmlns:a="http://schemas.openxmlformats.org/drawingml/2006/main" rot="10800000">
            <a:off x="6687721" y="5414141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4" name="Google Shape;153;p17"/>
          <p:cNvCxnSpPr/>
          <p:nvPr/>
        </p:nvCxnSpPr>
        <p:spPr>
          <a:xfrm xmlns:a="http://schemas.openxmlformats.org/drawingml/2006/main" rot="10800000">
            <a:off x="4566836" y="5248975"/>
            <a:ext cx="492001" cy="187904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5" name="Google Shape;154;p17"/>
          <p:cNvCxnSpPr/>
          <p:nvPr/>
        </p:nvCxnSpPr>
        <p:spPr>
          <a:xfrm xmlns:a="http://schemas.openxmlformats.org/drawingml/2006/main" flipH="1">
            <a:off x="4639544" y="5436879"/>
            <a:ext cx="410534" cy="276819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6" name="Google Shape;155;p17"/>
          <p:cNvCxnSpPr/>
          <p:nvPr/>
        </p:nvCxnSpPr>
        <p:spPr>
          <a:xfrm xmlns:a="http://schemas.openxmlformats.org/drawingml/2006/main" rot="10800000">
            <a:off x="3529264" y="5394138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cxnSp>
        <p:nvCxnSpPr>
          <p:cNvPr id="537" name="Google Shape;156;p17"/>
          <p:cNvCxnSpPr/>
          <p:nvPr/>
        </p:nvCxnSpPr>
        <p:spPr>
          <a:xfrm xmlns:a="http://schemas.openxmlformats.org/drawingml/2006/main" rot="10800000">
            <a:off x="1356197" y="5379770"/>
            <a:ext cx="555312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1"/>
            </a:solidFill>
            <a:prstDash val="solid"/>
            <a:miter/>
            <a:headEnd type="none" w="sm" len="sm"/>
            <a:tailEnd type="triangle" w="med" len="med"/>
          </a:ln>
        </p:spPr>
      </p:cxnSp>
      <p:sp>
        <p:nvSpPr>
          <p:cNvPr id="157" name="Google Shape;157;p17">
            <a:extLst xmlns:a="http://schemas.openxmlformats.org/drawingml/2006/main">
              <a:ext uri="{FF2B5EF4-FFF2-40B4-BE49-F238E27FC236}">
                <a16:creationId xmlns:a16="http://schemas.microsoft.com/office/drawing/2014/main" id="{A54910AF-0C0A-44A3-8528-5B4EBADE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6" y="2067815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Clean GDS</a:t>
            </a:r>
          </a:p>
        </p:txBody>
      </p:sp>
      <p:sp>
        <p:nvSpPr>
          <p:cNvPr id="158" name="Google Shape;158;p17">
            <a:extLst xmlns:a="http://schemas.openxmlformats.org/drawingml/2006/main">
              <a:ext uri="{FF2B5EF4-FFF2-40B4-BE49-F238E27FC236}">
                <a16:creationId xmlns:a16="http://schemas.microsoft.com/office/drawing/2014/main" id="{FD078979-AA49-4967-B726-581FAE05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489" y="2064216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m1 only GDS</a:t>
            </a:r>
          </a:p>
        </p:txBody>
      </p:sp>
      <p:sp>
        <p:nvSpPr>
          <p:cNvPr id="159" name="Google Shape;159;p17">
            <a:extLst xmlns:a="http://schemas.openxmlformats.org/drawingml/2006/main">
              <a:ext uri="{FF2B5EF4-FFF2-40B4-BE49-F238E27FC236}">
                <a16:creationId xmlns:a16="http://schemas.microsoft.com/office/drawing/2014/main" id="{F6615E61-77FB-45F2-8376-94CD5E7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3064" y="1679154"/>
            <a:ext cx="1521092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dk1"/>
                </a:solidFill>
                <a:latin typeface="Arial"/>
                <a:ea typeface="Arial"/>
                <a:cs typeface="Arial"/>
              </a:rPr>
              <a:t>Inject random  m1.2 DRC violations </a:t>
            </a:r>
          </a:p>
        </p:txBody>
      </p:sp>
      <p:sp>
        <p:nvSpPr>
          <p:cNvPr id="160" name="Google Shape;160;p17">
            <a:extLst xmlns:a="http://schemas.openxmlformats.org/drawingml/2006/main">
              <a:ext uri="{FF2B5EF4-FFF2-40B4-BE49-F238E27FC236}">
                <a16:creationId xmlns:a16="http://schemas.microsoft.com/office/drawing/2014/main" id="{6AEE0109-279C-480B-B0BD-D6F8A1CE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87246" y="5873569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accent6"/>
                </a:solidFill>
                <a:latin typeface="Arial"/>
                <a:ea typeface="Arial"/>
                <a:cs typeface="Arial"/>
              </a:rPr>
              <a:t>clean</a:t>
            </a:r>
          </a:p>
        </p:txBody>
      </p:sp>
      <p:sp>
        <p:nvSpPr>
          <p:cNvPr id="161" name="Google Shape;161;p17">
            <a:extLst xmlns:a="http://schemas.openxmlformats.org/drawingml/2006/main">
              <a:ext uri="{FF2B5EF4-FFF2-40B4-BE49-F238E27FC236}">
                <a16:creationId xmlns:a16="http://schemas.microsoft.com/office/drawing/2014/main" id="{BCECAD66-1E8D-470F-9F62-D383F979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53528">
            <a:off x="3594630" y="5036568"/>
            <a:ext cx="1521092" cy="307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FF0000"/>
                </a:solidFill>
                <a:latin typeface="Arial"/>
                <a:ea typeface="Arial"/>
                <a:cs typeface="Arial"/>
              </a:rPr>
              <a:t>violation</a:t>
            </a:r>
          </a:p>
        </p:txBody>
      </p:sp>
    </p:spTree>
    <p:extLst>
      <p:ext uri="{BB962C8B-B14F-4D97-AF65-F5344CB8AC3E}">
        <p14:creationId xmlns:p14="http://schemas.microsoft.com/office/powerpoint/2010/main" val="168847492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Example of dataset output:</a:t>
            </a:r>
          </a:p>
        </p:txBody>
      </p:sp>
      <p:pic>
        <p:nvPicPr>
          <p:cNvPr id="177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e98ae2e5070e4a0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9" name="Google Shape;169;p18">
            <a:extLst xmlns:a="http://schemas.openxmlformats.org/drawingml/2006/main">
              <a:ext uri="{FF2B5EF4-FFF2-40B4-BE49-F238E27FC236}">
                <a16:creationId xmlns:a16="http://schemas.microsoft.com/office/drawing/2014/main" id="{645E68E4-2BDE-47D4-B479-439600B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1 1 1]]</a:t>
            </a:r>
          </a:p>
        </p:txBody>
      </p:sp>
      <p:pic>
        <p:nvPicPr>
          <p:cNvPr id="179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4cc94a09c147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Google Shape;171;p18">
            <a:extLst xmlns:a="http://schemas.openxmlformats.org/drawingml/2006/main">
              <a:ext uri="{FF2B5EF4-FFF2-40B4-BE49-F238E27FC236}">
                <a16:creationId xmlns:a16="http://schemas.microsoft.com/office/drawing/2014/main" id="{9C02C8E6-7A95-4071-A6AC-AC39EEDF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</p:txBody>
      </p:sp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Layout size: 150 µm × 200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size: 2 µm × 2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Window stride: 1 µm</a:t>
            </a:r>
          </a:p>
          <a:p xmlns:a="http://schemas.openxmlformats.org/drawingml/2006/main">
            <a:pPr marL="24" indent="-14">
              <a:spcAft>
                <a:spcPts val="6"/>
              </a:spcAft>
              <a:buChar char="•"/>
            </a:pPr>
            <a:r>
              <a:rPr sz="2000">
                <a:latin typeface="Arial"/>
                <a:ea typeface="Arial"/>
                <a:cs typeface="Arial"/>
              </a:rPr>
              <a:t>Each window becomes a 200 × 200 binary matrix</a:t>
            </a:r>
          </a:p>
          <a:p xmlns:a="http://schemas.openxmlformats.org/drawingml/2006/main">
            <a:pPr marL="24" indent="-14">
              <a:buChar char="•"/>
            </a:pPr>
            <a:r>
              <a:rPr sz="2000">
                <a:latin typeface="Arial"/>
                <a:ea typeface="Arial"/>
                <a:cs typeface="Arial"/>
              </a:rPr>
              <a:t>About 500 layout clips were generated</a:t>
            </a:r>
          </a:p>
        </p:txBody>
      </p:sp>
      <p:sp>
        <p:nvSpPr>
          <p:cNvPr id="173" name="Google Shape;173;p18">
            <a:extLst xmlns:a="http://schemas.openxmlformats.org/drawingml/2006/main">
              <a:ext uri="{FF2B5EF4-FFF2-40B4-BE49-F238E27FC236}">
                <a16:creationId xmlns:a16="http://schemas.microsoft.com/office/drawing/2014/main" id="{BC8BEBE1-D0D4-4CD6-A7D1-F6EF9B25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14750"/>
            <a:ext cx="1238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[[1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[1 1 1 ... 1 1 1]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...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dk1"/>
                </a:solidFill>
                <a:latin typeface="Arial"/>
                <a:ea typeface="Arial"/>
                <a:cs typeface="Arial"/>
              </a:rPr>
              <a:t> [0 0 0 ... 0 0 0]]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8" name="Google Shape;178;p19">
            <a:extLst xmlns:a="http://schemas.openxmlformats.org/drawingml/2006/main">
              <a:ext uri="{FF2B5EF4-FFF2-40B4-BE49-F238E27FC236}">
                <a16:creationId xmlns:a16="http://schemas.microsoft.com/office/drawing/2014/main" id="{1221EDCB-BF9D-45F3-ABF9-6C31ED673F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steps</a:t>
            </a:r>
          </a:p>
        </p:txBody>
      </p:sp>
      <p:sp>
        <p:nvSpPr>
          <p:cNvPr id="179" name="Google Shape;179;p19">
            <a:extLst xmlns:a="http://schemas.openxmlformats.org/drawingml/2006/main">
              <a:ext uri="{FF2B5EF4-FFF2-40B4-BE49-F238E27FC236}">
                <a16:creationId xmlns:a16="http://schemas.microsoft.com/office/drawing/2014/main" id="{9BED944C-E6B8-4D26-8CAC-3682E76548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565397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Dataset generation - continue</a:t>
            </a:r>
          </a:p>
          <a:p xmlns:a="http://schemas.openxmlformats.org/drawingml/2006/main">
            <a:pPr marL="228600" indent="-76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CNN creation and training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Validation</a:t>
            </a:r>
          </a:p>
        </p:txBody>
      </p:sp>
      <p:pic>
        <p:nvPicPr>
          <p:cNvPr id="185" name="Google Shape;18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736ca1f5f341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993149" y="3888809"/>
            <a:ext cx="3647743" cy="2027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6" name="Google Shape;181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673e0337e54f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179127" y="1622064"/>
            <a:ext cx="3329977" cy="185978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7" name="Google Shape;182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f6b761480e4a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869647" y="1622064"/>
            <a:ext cx="1750162" cy="217615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01058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20">
            <a:extLst xmlns:a="http://schemas.openxmlformats.org/drawingml/2006/main">
              <a:ext uri="{FF2B5EF4-FFF2-40B4-BE49-F238E27FC236}">
                <a16:creationId xmlns:a16="http://schemas.microsoft.com/office/drawing/2014/main" id="{63D583D9-4FAF-420A-B242-7A91EDE559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Project Resources &amp; Environment</a:t>
            </a:r>
          </a:p>
        </p:txBody>
      </p:sp>
      <p:sp>
        <p:nvSpPr>
          <p:cNvPr id="189" name="Google Shape;189;p20">
            <a:extLst xmlns:a="http://schemas.openxmlformats.org/drawingml/2006/main">
              <a:ext uri="{FF2B5EF4-FFF2-40B4-BE49-F238E27FC236}">
                <a16:creationId xmlns:a16="http://schemas.microsoft.com/office/drawing/2014/main" id="{DC8A3AF7-9354-4F1C-8461-010D7F9BA9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2400"/>
              <a:t>Tools – Klayout (free) interface with Python APIs.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PDK – SkyWater 130nm Open source PDK.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IP database – Tiny Tapeout database (may need for more sources).</a:t>
            </a:r>
          </a:p>
          <a:p xmlns:a="http://schemas.openxmlformats.org/drawingml/2006/main"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</a:pPr>
            <a:r>
              <a:rPr sz="2400"/>
              <a:t>Model Training – Google Colab (offers access to GPU), University servers.</a:t>
            </a:r>
          </a:p>
          <a:p xmlns:a="http://schemas.openxmlformats.org/drawingml/2006/main"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228600" indent="-50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145956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21">
            <a:extLst xmlns:a="http://schemas.openxmlformats.org/drawingml/2006/main">
              <a:ext uri="{FF2B5EF4-FFF2-40B4-BE49-F238E27FC236}">
                <a16:creationId xmlns:a16="http://schemas.microsoft.com/office/drawing/2014/main" id="{CC6E981B-E4BC-41F5-9C6F-5FF88D33F0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From proposal to measured system</a:t>
            </a:r>
          </a:p>
        </p:txBody>
      </p:sp>
      <p:sp>
        <p:nvSpPr>
          <p:cNvPr id="196" name="Google Shape;196;p21">
            <a:extLst xmlns:a="http://schemas.openxmlformats.org/drawingml/2006/main">
              <a:ext uri="{FF2B5EF4-FFF2-40B4-BE49-F238E27FC236}">
                <a16:creationId xmlns:a16="http://schemas.microsoft.com/office/drawing/2014/main" id="{600281A9-19F9-4F8B-86CB-889DFB6ECF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B0–B3 complete · controlled B4 architecture test next</a:t>
            </a:r>
          </a:p>
        </p:txBody>
      </p:sp>
    </p:spTree>
    <p:extLst>
      <p:ext uri="{BB962C8B-B14F-4D97-AF65-F5344CB8AC3E}">
        <p14:creationId xmlns:p14="http://schemas.microsoft.com/office/powerpoint/2010/main" val="17755493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22">
            <a:extLst xmlns:a="http://schemas.openxmlformats.org/drawingml/2006/main">
              <a:ext uri="{FF2B5EF4-FFF2-40B4-BE49-F238E27FC236}">
                <a16:creationId xmlns:a16="http://schemas.microsoft.com/office/drawing/2014/main" id="{C8118EBF-173B-493F-B181-80ED61AEA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objective and contribution</a:t>
            </a:r>
          </a:p>
        </p:txBody>
      </p:sp>
      <p:sp>
        <p:nvSpPr>
          <p:cNvPr id="203" name="Google Shape;203;p22">
            <a:extLst xmlns:a="http://schemas.openxmlformats.org/drawingml/2006/main">
              <a:ext uri="{FF2B5EF4-FFF2-40B4-BE49-F238E27FC236}">
                <a16:creationId xmlns:a16="http://schemas.microsoft.com/office/drawing/2014/main" id="{8C8967A8-AFDD-4A36-BD2A-6A37DA6F46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Paper baseline</a:t>
            </a:r>
          </a:p>
        </p:txBody>
      </p:sp>
      <p:sp>
        <p:nvSpPr>
          <p:cNvPr id="204" name="Google Shape;204;p22">
            <a:extLst xmlns:a="http://schemas.openxmlformats.org/drawingml/2006/main">
              <a:ext uri="{FF2B5EF4-FFF2-40B4-BE49-F238E27FC236}">
                <a16:creationId xmlns:a16="http://schemas.microsoft.com/office/drawing/2014/main" id="{19A9097E-C301-4B04-A28D-C7CF5D1666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Tile-level binary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Reported up to 92% under the paper setup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No exact violation location</a:t>
            </a:r>
          </a:p>
        </p:txBody>
      </p:sp>
      <p:sp>
        <p:nvSpPr>
          <p:cNvPr id="205" name="Google Shape;205;p22">
            <a:extLst xmlns:a="http://schemas.openxmlformats.org/drawingml/2006/main">
              <a:ext uri="{FF2B5EF4-FFF2-40B4-BE49-F238E27FC236}">
                <a16:creationId xmlns:a16="http://schemas.microsoft.com/office/drawing/2014/main" id="{1E0BEAE3-F26D-4391-B700-136E11ECA92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Our target</a:t>
            </a:r>
          </a:p>
        </p:txBody>
      </p:sp>
      <p:sp>
        <p:nvSpPr>
          <p:cNvPr id="206" name="Google Shape;206;p22">
            <a:extLst xmlns:a="http://schemas.openxmlformats.org/drawingml/2006/main">
              <a:ext uri="{FF2B5EF4-FFF2-40B4-BE49-F238E27FC236}">
                <a16:creationId xmlns:a16="http://schemas.microsoft.com/office/drawing/2014/main" id="{76F59418-2FDB-4369-B235-930A4716F3F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Competitive clean / dirty classification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Generalization to unseen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Pixel-level localization →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DRC/LVS-verified repair suggestions</a:t>
            </a:r>
          </a:p>
        </p:txBody>
      </p:sp>
    </p:spTree>
    <p:extLst>
      <p:ext uri="{BB962C8B-B14F-4D97-AF65-F5344CB8AC3E}">
        <p14:creationId xmlns:p14="http://schemas.microsoft.com/office/powerpoint/2010/main" val="11612885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B0: reproducible pipeline established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6,060 labeled layout clips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Sky130 / m1.2 spacing rule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80/15/5 random tile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Training-only rotations and reflections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Dataset ZIP → deterministic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CNN training → best checkpoint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Validation each epoch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Held-out test → JSON metrics + weights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B0 benchmark results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79.2%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0.786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Test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79.5%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Dirty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303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Held-out tiles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accuracy by epoch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F1 by epoch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5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E1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00" y="4218178"/>
            <a:ext cx="533400" cy="157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90067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56.3%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5310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4356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0.000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7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E2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00" y="3910838"/>
            <a:ext cx="533400" cy="188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59333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67.3%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90696"/>
            <a:ext cx="533400" cy="20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347319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0.716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9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E3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3678936"/>
            <a:ext cx="533400" cy="211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6143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75.6%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43198"/>
            <a:ext cx="533400" cy="20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3425698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0.733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1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E4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00" y="3611880"/>
            <a:ext cx="533400" cy="217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9438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78.0%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4966"/>
            <a:ext cx="533400" cy="212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3347466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0.761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300" y="5867400"/>
            <a:ext cx="660300" cy="27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E5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25">
            <a:extLst xmlns:a="http://schemas.openxmlformats.org/drawingml/2006/main">
              <a:ext uri="{FF2B5EF4-FFF2-40B4-BE49-F238E27FC236}">
                <a16:creationId xmlns:a16="http://schemas.microsoft.com/office/drawing/2014/main" id="{ECFEFA44-E7EB-4111-AB7B-CE25C0F4D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B0 result: functional, not yet paper-comparable</a:t>
            </a:r>
          </a:p>
        </p:txBody>
      </p:sp>
      <p:sp>
        <p:nvSpPr>
          <p:cNvPr id="265" name="Google Shape;265;p25">
            <a:extLst xmlns:a="http://schemas.openxmlformats.org/drawingml/2006/main">
              <a:ext uri="{FF2B5EF4-FFF2-40B4-BE49-F238E27FC236}">
                <a16:creationId xmlns:a16="http://schemas.microsoft.com/office/drawing/2014/main" id="{6F1DFA78-85BE-4013-AEBA-D4B53B45BF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Balanced predictions: 154 clean / 149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33 false alarms; 30 missed violations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Epochs 1–2 collapsed; recovery starts at epoch 3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Random tile split may leak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Dataset and task differ from the paper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redesign evaluation before tuning</a:t>
            </a:r>
          </a:p>
        </p:txBody>
      </p:sp>
      <p:sp>
        <p:nvSpPr>
          <p:cNvPr id="266" name="Google Shape;266;p25">
            <a:extLst xmlns:a="http://schemas.openxmlformats.org/drawingml/2006/main">
              <a:ext uri="{FF2B5EF4-FFF2-40B4-BE49-F238E27FC236}">
                <a16:creationId xmlns:a16="http://schemas.microsoft.com/office/drawing/2014/main" id="{114B2ECA-B89A-49A6-BF33-464FB8DE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0" y="1460500"/>
            <a:ext cx="3810000" cy="31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333333"/>
                </a:solidFill>
              </a:rPr>
              <a:t>Predicted class</a:t>
            </a:r>
          </a:p>
        </p:txBody>
      </p:sp>
      <p:sp>
        <p:nvSpPr>
          <p:cNvPr id="267" name="Google Shape;267;p25">
            <a:extLst xmlns:a="http://schemas.openxmlformats.org/drawingml/2006/main">
              <a:ext uri="{FF2B5EF4-FFF2-40B4-BE49-F238E27FC236}">
                <a16:creationId xmlns:a16="http://schemas.microsoft.com/office/drawing/2014/main" id="{36B959A8-0A7D-45AD-A797-B34F241D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68" name="Google Shape;268;p25">
            <a:extLst xmlns:a="http://schemas.openxmlformats.org/drawingml/2006/main">
              <a:ext uri="{FF2B5EF4-FFF2-40B4-BE49-F238E27FC236}">
                <a16:creationId xmlns:a16="http://schemas.microsoft.com/office/drawing/2014/main" id="{1181C51F-75BC-41B2-A5A4-BACA8667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1841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69" name="Google Shape;269;p25">
            <a:extLst xmlns:a="http://schemas.openxmlformats.org/drawingml/2006/main">
              <a:ext uri="{FF2B5EF4-FFF2-40B4-BE49-F238E27FC236}">
                <a16:creationId xmlns:a16="http://schemas.microsoft.com/office/drawing/2014/main" id="{3E33EDFC-1BCC-435B-A60A-7A50D1D6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27940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clean</a:t>
            </a:r>
          </a:p>
        </p:txBody>
      </p:sp>
      <p:sp>
        <p:nvSpPr>
          <p:cNvPr id="270" name="Google Shape;270;p25">
            <a:extLst xmlns:a="http://schemas.openxmlformats.org/drawingml/2006/main">
              <a:ext uri="{FF2B5EF4-FFF2-40B4-BE49-F238E27FC236}">
                <a16:creationId xmlns:a16="http://schemas.microsoft.com/office/drawing/2014/main" id="{AD3CC03A-263E-4DD8-ADC4-57F1D081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" y="4635500"/>
            <a:ext cx="88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True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333333"/>
                </a:solidFill>
              </a:rPr>
              <a:t>dirty</a:t>
            </a:r>
          </a:p>
        </p:txBody>
      </p:sp>
      <p:sp>
        <p:nvSpPr>
          <p:cNvPr id="271" name="Google Shape;271;p25">
            <a:extLst xmlns:a="http://schemas.openxmlformats.org/drawingml/2006/main">
              <a:ext uri="{FF2B5EF4-FFF2-40B4-BE49-F238E27FC236}">
                <a16:creationId xmlns:a16="http://schemas.microsoft.com/office/drawing/2014/main" id="{8742A05F-2EA3-4937-9412-D022E3A3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407A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124</a:t>
            </a:r>
          </a:p>
        </p:txBody>
      </p:sp>
      <p:sp>
        <p:nvSpPr>
          <p:cNvPr id="272" name="Google Shape;272;p25">
            <a:extLst xmlns:a="http://schemas.openxmlformats.org/drawingml/2006/main">
              <a:ext uri="{FF2B5EF4-FFF2-40B4-BE49-F238E27FC236}">
                <a16:creationId xmlns:a16="http://schemas.microsoft.com/office/drawing/2014/main" id="{A4BFF453-BDB8-4E04-A4D2-A4091A8C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22225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33</a:t>
            </a:r>
          </a:p>
        </p:txBody>
      </p:sp>
      <p:sp>
        <p:nvSpPr>
          <p:cNvPr id="273" name="Google Shape;273;p25">
            <a:extLst xmlns:a="http://schemas.openxmlformats.org/drawingml/2006/main">
              <a:ext uri="{FF2B5EF4-FFF2-40B4-BE49-F238E27FC236}">
                <a16:creationId xmlns:a16="http://schemas.microsoft.com/office/drawing/2014/main" id="{088C8C39-0EC0-4CD9-99CF-44DD1402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D9E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1F1F1F"/>
                </a:solidFill>
              </a:rPr>
              <a:t>30</a:t>
            </a:r>
          </a:p>
        </p:txBody>
      </p:sp>
      <p:sp>
        <p:nvSpPr>
          <p:cNvPr id="274" name="Google Shape;274;p25">
            <a:extLst xmlns:a="http://schemas.openxmlformats.org/drawingml/2006/main">
              <a:ext uri="{FF2B5EF4-FFF2-40B4-BE49-F238E27FC236}">
                <a16:creationId xmlns:a16="http://schemas.microsoft.com/office/drawing/2014/main" id="{A2F928F5-A503-4AD1-B553-A62BA292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5000" y="4064000"/>
            <a:ext cx="1714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4D8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</a:rPr>
              <a:t>116</a:t>
            </a:r>
          </a:p>
        </p:txBody>
      </p:sp>
      <p:sp>
        <p:nvSpPr>
          <p:cNvPr id="275" name="Google Shape;275;p25">
            <a:extLst xmlns:a="http://schemas.openxmlformats.org/drawingml/2006/main">
              <a:ext uri="{FF2B5EF4-FFF2-40B4-BE49-F238E27FC236}">
                <a16:creationId xmlns:a16="http://schemas.microsoft.com/office/drawing/2014/main" id="{2BE5A9DA-BD4A-4D79-B483-7103B5D2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00" y="5905500"/>
            <a:ext cx="38100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333333"/>
                </a:solidFill>
              </a:rPr>
              <a:t>Test set: 303 tiles</a:t>
            </a:r>
          </a:p>
        </p:txBody>
      </p:sp>
    </p:spTree>
    <p:extLst>
      <p:ext uri="{BB962C8B-B14F-4D97-AF65-F5344CB8AC3E}">
        <p14:creationId xmlns:p14="http://schemas.microsoft.com/office/powerpoint/2010/main" val="624672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1" name="Google Shape;281;p26">
            <a:extLst xmlns:a="http://schemas.openxmlformats.org/drawingml/2006/main">
              <a:ext uri="{FF2B5EF4-FFF2-40B4-BE49-F238E27FC236}">
                <a16:creationId xmlns:a16="http://schemas.microsoft.com/office/drawing/2014/main" id="{A4910E91-D8A8-4AB9-937A-09FDE33845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Two benchmarks support two different claims</a:t>
            </a:r>
          </a:p>
        </p:txBody>
      </p:sp>
      <p:sp>
        <p:nvSpPr>
          <p:cNvPr id="282" name="Google Shape;282;p26">
            <a:extLst xmlns:a="http://schemas.openxmlformats.org/drawingml/2006/main">
              <a:ext uri="{FF2B5EF4-FFF2-40B4-BE49-F238E27FC236}">
                <a16:creationId xmlns:a16="http://schemas.microsoft.com/office/drawing/2014/main" id="{845EACED-1146-49ED-8B52-B9A46D8F92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Tile-random reference</a:t>
            </a:r>
          </a:p>
        </p:txBody>
      </p:sp>
      <p:sp>
        <p:nvSpPr>
          <p:cNvPr id="283" name="Google Shape;283;p26">
            <a:extLst xmlns:a="http://schemas.openxmlformats.org/drawingml/2006/main">
              <a:ext uri="{FF2B5EF4-FFF2-40B4-BE49-F238E27FC236}">
                <a16:creationId xmlns:a16="http://schemas.microsoft.com/office/drawing/2014/main" id="{81356FD7-0410-4E31-80A5-5B3A7881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Preserve the clean / dirty classification task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Keep equivalent content inside one split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Internal reference; not a direct paper reproduction</a:t>
            </a:r>
          </a:p>
        </p:txBody>
      </p:sp>
      <p:sp>
        <p:nvSpPr>
          <p:cNvPr id="284" name="Google Shape;284;p26">
            <a:extLst xmlns:a="http://schemas.openxmlformats.org/drawingml/2006/main">
              <a:ext uri="{FF2B5EF4-FFF2-40B4-BE49-F238E27FC236}">
                <a16:creationId xmlns:a16="http://schemas.microsoft.com/office/drawing/2014/main" id="{DDDC0AE2-7CF7-490F-82BF-AF48775E928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t>Unseen-layout track</a:t>
            </a:r>
          </a:p>
        </p:txBody>
      </p:sp>
      <p:sp>
        <p:nvSpPr>
          <p:cNvPr id="285" name="Google Shape;285;p26">
            <a:extLst xmlns:a="http://schemas.openxmlformats.org/drawingml/2006/main">
              <a:ext uri="{FF2B5EF4-FFF2-40B4-BE49-F238E27FC236}">
                <a16:creationId xmlns:a16="http://schemas.microsoft.com/office/drawing/2014/main" id="{78B3B5DB-D996-4352-92BC-701035F05AC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Group variants of the same design family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Train and test on independent layouts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Report accuracy, F1, recall and per-layout variance</a:t>
            </a:r>
          </a:p>
        </p:txBody>
      </p:sp>
    </p:spTree>
    <p:extLst>
      <p:ext uri="{BB962C8B-B14F-4D97-AF65-F5344CB8AC3E}">
        <p14:creationId xmlns:p14="http://schemas.microsoft.com/office/powerpoint/2010/main" val="3749889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1" name="Google Shape;291;p27">
            <a:extLst xmlns:a="http://schemas.openxmlformats.org/drawingml/2006/main">
              <a:ext uri="{FF2B5EF4-FFF2-40B4-BE49-F238E27FC236}">
                <a16:creationId xmlns:a16="http://schemas.microsoft.com/office/drawing/2014/main" id="{25D4AAC7-00D9-4840-A8F1-3ED0BFDF0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to the final contribution</a:t>
            </a:r>
          </a:p>
        </p:txBody>
      </p:sp>
      <p:sp>
        <p:nvSpPr>
          <p:cNvPr id="292" name="Google Shape;292;p27">
            <a:extLst xmlns:a="http://schemas.openxmlformats.org/drawingml/2006/main">
              <a:ext uri="{FF2B5EF4-FFF2-40B4-BE49-F238E27FC236}">
                <a16:creationId xmlns:a16="http://schemas.microsoft.com/office/drawing/2014/main" id="{73803BE1-6414-41AF-9F58-47BFF83C57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B1  Data integrity + broad layouts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B2  Dual classification baselines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B3  Training tuning — complete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B4  Architecture tests — next</a:t>
            </a:r>
          </a:p>
        </p:txBody>
      </p:sp>
      <p:sp>
        <p:nvSpPr>
          <p:cNvPr id="293" name="Google Shape;293;p27">
            <a:extLst xmlns:a="http://schemas.openxmlformats.org/drawingml/2006/main">
              <a:ext uri="{FF2B5EF4-FFF2-40B4-BE49-F238E27FC236}">
                <a16:creationId xmlns:a16="http://schemas.microsoft.com/office/drawing/2014/main" id="{CEEA99AB-591A-4C2A-B740-D5B689FA2F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B5  Error analysis + targeted data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B6  Pixel-level localization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B7  Exact GDS coordinates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B8  DRC/LVS-verified auto-fix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B9  Reproducible release candidate</a:t>
            </a:r>
          </a:p>
        </p:txBody>
      </p:sp>
      <p:sp>
        <p:nvSpPr>
          <p:cNvPr id="294" name="Google Shape;294;p27">
            <a:extLst xmlns:a="http://schemas.openxmlformats.org/drawingml/2006/main">
              <a:ext uri="{FF2B5EF4-FFF2-40B4-BE49-F238E27FC236}">
                <a16:creationId xmlns:a16="http://schemas.microsoft.com/office/drawing/2014/main" id="{5875FAD4-2283-450C-884E-7D46ABE7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0" y="5651500"/>
            <a:ext cx="9398100" cy="6096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>
                <a:solidFill>
                  <a:srgbClr val="404040"/>
                </a:solidFill>
              </a:rPr>
              <a:t>Every phase records the delta vs. the previous phase while preserving frozen test sets.</a:t>
            </a:r>
          </a:p>
        </p:txBody>
      </p:sp>
    </p:spTree>
    <p:extLst>
      <p:ext uri="{BB962C8B-B14F-4D97-AF65-F5344CB8AC3E}">
        <p14:creationId xmlns:p14="http://schemas.microsoft.com/office/powerpoint/2010/main" val="194164372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0" name="Google Shape;300;p28">
            <a:extLst xmlns:a="http://schemas.openxmlformats.org/drawingml/2006/main">
              <a:ext uri="{FF2B5EF4-FFF2-40B4-BE49-F238E27FC236}">
                <a16:creationId xmlns:a16="http://schemas.microsoft.com/office/drawing/2014/main" id="{78232064-9341-4BFB-AA9C-DDA925B1F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Phase dashboard</a:t>
            </a:r>
          </a:p>
        </p:txBody>
      </p:sp>
      <p:sp>
        <p:nvSpPr>
          <p:cNvPr id="301" name="Google Shape;301;p28">
            <a:extLst xmlns:a="http://schemas.openxmlformats.org/drawingml/2006/main">
              <a:ext uri="{FF2B5EF4-FFF2-40B4-BE49-F238E27FC236}">
                <a16:creationId xmlns:a16="http://schemas.microsoft.com/office/drawing/2014/main" id="{5A6449E8-BF14-41CA-A749-802548E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302" name="Google Shape;302;p28">
            <a:extLst xmlns:a="http://schemas.openxmlformats.org/drawingml/2006/main">
              <a:ext uri="{FF2B5EF4-FFF2-40B4-BE49-F238E27FC236}">
                <a16:creationId xmlns:a16="http://schemas.microsoft.com/office/drawing/2014/main" id="{127831AB-935D-49D7-8833-0E6D9BC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168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State</a:t>
            </a:r>
          </a:p>
        </p:txBody>
      </p:sp>
      <p:sp>
        <p:nvSpPr>
          <p:cNvPr id="303" name="Google Shape;303;p28">
            <a:extLst xmlns:a="http://schemas.openxmlformats.org/drawingml/2006/main">
              <a:ext uri="{FF2B5EF4-FFF2-40B4-BE49-F238E27FC236}">
                <a16:creationId xmlns:a16="http://schemas.microsoft.com/office/drawing/2014/main" id="{E046DAB1-FE87-431F-B8A7-F131B432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168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04" name="Google Shape;304;p28">
            <a:extLst xmlns:a="http://schemas.openxmlformats.org/drawingml/2006/main">
              <a:ext uri="{FF2B5EF4-FFF2-40B4-BE49-F238E27FC236}">
                <a16:creationId xmlns:a16="http://schemas.microsoft.com/office/drawing/2014/main" id="{94C93F9C-2271-4CF1-9E79-074D907E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168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05" name="Google Shape;305;p28">
            <a:extLst xmlns:a="http://schemas.openxmlformats.org/drawingml/2006/main">
              <a:ext uri="{FF2B5EF4-FFF2-40B4-BE49-F238E27FC236}">
                <a16:creationId xmlns:a16="http://schemas.microsoft.com/office/drawing/2014/main" id="{C1968E20-7847-44E6-BAE5-2AADE74F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168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6" name="Google Shape;306;p28">
            <a:extLst xmlns:a="http://schemas.openxmlformats.org/drawingml/2006/main">
              <a:ext uri="{FF2B5EF4-FFF2-40B4-BE49-F238E27FC236}">
                <a16:creationId xmlns:a16="http://schemas.microsoft.com/office/drawing/2014/main" id="{200D8B98-F39A-4696-838C-B89CEAE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168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rgbClr val="FFFFFF"/>
                </a:solidFill>
              </a:rPr>
              <a:t>Δ F1</a:t>
            </a:r>
          </a:p>
        </p:txBody>
      </p:sp>
      <p:sp>
        <p:nvSpPr>
          <p:cNvPr id="307" name="Google Shape;307;p28">
            <a:extLst xmlns:a="http://schemas.openxmlformats.org/drawingml/2006/main">
              <a:ext uri="{FF2B5EF4-FFF2-40B4-BE49-F238E27FC236}">
                <a16:creationId xmlns:a16="http://schemas.microsoft.com/office/drawing/2014/main" id="{EC42D951-996E-4263-B961-C40816F6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34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B0</a:t>
            </a:r>
          </a:p>
        </p:txBody>
      </p:sp>
      <p:sp>
        <p:nvSpPr>
          <p:cNvPr id="308" name="Google Shape;308;p28">
            <a:extLst xmlns:a="http://schemas.openxmlformats.org/drawingml/2006/main">
              <a:ext uri="{FF2B5EF4-FFF2-40B4-BE49-F238E27FC236}">
                <a16:creationId xmlns:a16="http://schemas.microsoft.com/office/drawing/2014/main" id="{6BA7D49C-8127-41F1-90C9-2F7F83A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18034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09" name="Google Shape;309;p28">
            <a:extLst xmlns:a="http://schemas.openxmlformats.org/drawingml/2006/main">
              <a:ext uri="{FF2B5EF4-FFF2-40B4-BE49-F238E27FC236}">
                <a16:creationId xmlns:a16="http://schemas.microsoft.com/office/drawing/2014/main" id="{B106DC09-893E-4342-84D2-A3A7C8B8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18034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Functional random-tile sanity run</a:t>
            </a:r>
          </a:p>
        </p:txBody>
      </p:sp>
      <p:sp>
        <p:nvSpPr>
          <p:cNvPr id="310" name="Google Shape;310;p28">
            <a:extLst xmlns:a="http://schemas.openxmlformats.org/drawingml/2006/main">
              <a:ext uri="{FF2B5EF4-FFF2-40B4-BE49-F238E27FC236}">
                <a16:creationId xmlns:a16="http://schemas.microsoft.com/office/drawing/2014/main" id="{3AA99EB8-7A01-465C-849B-C319EE47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18034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79.2%</a:t>
            </a:r>
          </a:p>
        </p:txBody>
      </p:sp>
      <p:sp>
        <p:nvSpPr>
          <p:cNvPr id="311" name="Google Shape;311;p28">
            <a:extLst xmlns:a="http://schemas.openxmlformats.org/drawingml/2006/main">
              <a:ext uri="{FF2B5EF4-FFF2-40B4-BE49-F238E27FC236}">
                <a16:creationId xmlns:a16="http://schemas.microsoft.com/office/drawing/2014/main" id="{86520773-CBBA-4D6F-A5BE-655420B4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34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0.786</a:t>
            </a:r>
          </a:p>
        </p:txBody>
      </p:sp>
      <p:sp>
        <p:nvSpPr>
          <p:cNvPr id="312" name="Google Shape;312;p28">
            <a:extLst xmlns:a="http://schemas.openxmlformats.org/drawingml/2006/main">
              <a:ext uri="{FF2B5EF4-FFF2-40B4-BE49-F238E27FC236}">
                <a16:creationId xmlns:a16="http://schemas.microsoft.com/office/drawing/2014/main" id="{6BBDF09D-8331-46A2-9C22-4B6B990E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18034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3" name="Google Shape;313;p28">
            <a:extLst xmlns:a="http://schemas.openxmlformats.org/drawingml/2006/main">
              <a:ext uri="{FF2B5EF4-FFF2-40B4-BE49-F238E27FC236}">
                <a16:creationId xmlns:a16="http://schemas.microsoft.com/office/drawing/2014/main" id="{872EB468-146D-4751-8F74-F8D973C2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57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B1</a:t>
            </a:r>
          </a:p>
        </p:txBody>
      </p:sp>
      <p:sp>
        <p:nvSpPr>
          <p:cNvPr id="314" name="Google Shape;314;p28">
            <a:extLst xmlns:a="http://schemas.openxmlformats.org/drawingml/2006/main">
              <a:ext uri="{FF2B5EF4-FFF2-40B4-BE49-F238E27FC236}">
                <a16:creationId xmlns:a16="http://schemas.microsoft.com/office/drawing/2014/main" id="{4CF2492B-A652-41BF-B7E3-16EDFD081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24257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15" name="Google Shape;315;p28">
            <a:extLst xmlns:a="http://schemas.openxmlformats.org/drawingml/2006/main">
              <a:ext uri="{FF2B5EF4-FFF2-40B4-BE49-F238E27FC236}">
                <a16:creationId xmlns:a16="http://schemas.microsoft.com/office/drawing/2014/main" id="{BE08BEBD-0DE3-4066-8C29-628F9F88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24257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14,348 tiles · 14 frozen families</a:t>
            </a:r>
          </a:p>
        </p:txBody>
      </p:sp>
      <p:sp>
        <p:nvSpPr>
          <p:cNvPr id="316" name="Google Shape;316;p28">
            <a:extLst xmlns:a="http://schemas.openxmlformats.org/drawingml/2006/main">
              <a:ext uri="{FF2B5EF4-FFF2-40B4-BE49-F238E27FC236}">
                <a16:creationId xmlns:a16="http://schemas.microsoft.com/office/drawing/2014/main" id="{14BADFCD-A9AC-4E40-A65A-DAFF3478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24257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7" name="Google Shape;317;p28">
            <a:extLst xmlns:a="http://schemas.openxmlformats.org/drawingml/2006/main">
              <a:ext uri="{FF2B5EF4-FFF2-40B4-BE49-F238E27FC236}">
                <a16:creationId xmlns:a16="http://schemas.microsoft.com/office/drawing/2014/main" id="{E3491A0A-3373-4AF1-86A9-6FBAD17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4257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8" name="Google Shape;318;p28">
            <a:extLst xmlns:a="http://schemas.openxmlformats.org/drawingml/2006/main">
              <a:ext uri="{FF2B5EF4-FFF2-40B4-BE49-F238E27FC236}">
                <a16:creationId xmlns:a16="http://schemas.microsoft.com/office/drawing/2014/main" id="{9C81D429-8191-40B6-BD92-D7E5895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24257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19" name="Google Shape;319;p28">
            <a:extLst xmlns:a="http://schemas.openxmlformats.org/drawingml/2006/main">
              <a:ext uri="{FF2B5EF4-FFF2-40B4-BE49-F238E27FC236}">
                <a16:creationId xmlns:a16="http://schemas.microsoft.com/office/drawing/2014/main" id="{342D0530-1A64-451C-8D65-349346FA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B2</a:t>
            </a:r>
          </a:p>
        </p:txBody>
      </p:sp>
      <p:sp>
        <p:nvSpPr>
          <p:cNvPr id="320" name="Google Shape;320;p28">
            <a:extLst xmlns:a="http://schemas.openxmlformats.org/drawingml/2006/main">
              <a:ext uri="{FF2B5EF4-FFF2-40B4-BE49-F238E27FC236}">
                <a16:creationId xmlns:a16="http://schemas.microsoft.com/office/drawing/2014/main" id="{2695A851-5AC7-4839-ADAF-517FB7BF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0480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1" name="Google Shape;321;p28">
            <a:extLst xmlns:a="http://schemas.openxmlformats.org/drawingml/2006/main">
              <a:ext uri="{FF2B5EF4-FFF2-40B4-BE49-F238E27FC236}">
                <a16:creationId xmlns:a16="http://schemas.microsoft.com/office/drawing/2014/main" id="{65FF05B1-66C4-4B33-A42A-74A5D1100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0480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Three-seed unseen-layout baseline</a:t>
            </a:r>
          </a:p>
        </p:txBody>
      </p:sp>
      <p:sp>
        <p:nvSpPr>
          <p:cNvPr id="322" name="Google Shape;322;p28">
            <a:extLst xmlns:a="http://schemas.openxmlformats.org/drawingml/2006/main">
              <a:ext uri="{FF2B5EF4-FFF2-40B4-BE49-F238E27FC236}">
                <a16:creationId xmlns:a16="http://schemas.microsoft.com/office/drawing/2014/main" id="{4E48C1A9-181A-48F8-9111-1E1FB657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0480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90.38%</a:t>
            </a:r>
          </a:p>
        </p:txBody>
      </p:sp>
      <p:sp>
        <p:nvSpPr>
          <p:cNvPr id="323" name="Google Shape;323;p28">
            <a:extLst xmlns:a="http://schemas.openxmlformats.org/drawingml/2006/main">
              <a:ext uri="{FF2B5EF4-FFF2-40B4-BE49-F238E27FC236}">
                <a16:creationId xmlns:a16="http://schemas.microsoft.com/office/drawing/2014/main" id="{F66279B1-0956-43C9-AF35-DD275CC6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0.909</a:t>
            </a:r>
          </a:p>
        </p:txBody>
      </p:sp>
      <p:sp>
        <p:nvSpPr>
          <p:cNvPr id="324" name="Google Shape;324;p28">
            <a:extLst xmlns:a="http://schemas.openxmlformats.org/drawingml/2006/main">
              <a:ext uri="{FF2B5EF4-FFF2-40B4-BE49-F238E27FC236}">
                <a16:creationId xmlns:a16="http://schemas.microsoft.com/office/drawing/2014/main" id="{00AC2838-397A-413A-9BC9-B52DFAE4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0480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n/a*</a:t>
            </a:r>
          </a:p>
        </p:txBody>
      </p:sp>
      <p:sp>
        <p:nvSpPr>
          <p:cNvPr id="325" name="Google Shape;325;p28">
            <a:extLst xmlns:a="http://schemas.openxmlformats.org/drawingml/2006/main">
              <a:ext uri="{FF2B5EF4-FFF2-40B4-BE49-F238E27FC236}">
                <a16:creationId xmlns:a16="http://schemas.microsoft.com/office/drawing/2014/main" id="{4C4DF4E6-7E90-45F9-A4FF-79BD1CD8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03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B3</a:t>
            </a:r>
          </a:p>
        </p:txBody>
      </p:sp>
      <p:sp>
        <p:nvSpPr>
          <p:cNvPr id="326" name="Google Shape;326;p28">
            <a:extLst xmlns:a="http://schemas.openxmlformats.org/drawingml/2006/main">
              <a:ext uri="{FF2B5EF4-FFF2-40B4-BE49-F238E27FC236}">
                <a16:creationId xmlns:a16="http://schemas.microsoft.com/office/drawing/2014/main" id="{586AE6D2-619E-4D48-BE4E-21973652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36703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Done</a:t>
            </a:r>
          </a:p>
        </p:txBody>
      </p:sp>
      <p:sp>
        <p:nvSpPr>
          <p:cNvPr id="327" name="Google Shape;327;p28">
            <a:extLst xmlns:a="http://schemas.openxmlformats.org/drawingml/2006/main">
              <a:ext uri="{FF2B5EF4-FFF2-40B4-BE49-F238E27FC236}">
                <a16:creationId xmlns:a16="http://schemas.microsoft.com/office/drawing/2014/main" id="{F9D069C7-1338-4D46-B0AB-D2BF170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6703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Recall trade-off rejected</a:t>
            </a:r>
          </a:p>
        </p:txBody>
      </p:sp>
      <p:sp>
        <p:nvSpPr>
          <p:cNvPr id="328" name="Google Shape;328;p28">
            <a:extLst xmlns:a="http://schemas.openxmlformats.org/drawingml/2006/main">
              <a:ext uri="{FF2B5EF4-FFF2-40B4-BE49-F238E27FC236}">
                <a16:creationId xmlns:a16="http://schemas.microsoft.com/office/drawing/2014/main" id="{F479FAD1-2806-4C1F-8E14-B55C6175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36703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89.71%</a:t>
            </a:r>
          </a:p>
        </p:txBody>
      </p:sp>
      <p:sp>
        <p:nvSpPr>
          <p:cNvPr id="329" name="Google Shape;329;p28">
            <a:extLst xmlns:a="http://schemas.openxmlformats.org/drawingml/2006/main">
              <a:ext uri="{FF2B5EF4-FFF2-40B4-BE49-F238E27FC236}">
                <a16:creationId xmlns:a16="http://schemas.microsoft.com/office/drawing/2014/main" id="{FC4D32A1-6DB2-4AC3-A687-7E483012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703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0.907</a:t>
            </a:r>
          </a:p>
        </p:txBody>
      </p:sp>
      <p:sp>
        <p:nvSpPr>
          <p:cNvPr id="330" name="Google Shape;330;p28">
            <a:extLst xmlns:a="http://schemas.openxmlformats.org/drawingml/2006/main">
              <a:ext uri="{FF2B5EF4-FFF2-40B4-BE49-F238E27FC236}">
                <a16:creationId xmlns:a16="http://schemas.microsoft.com/office/drawing/2014/main" id="{38FF56B8-67E4-4F84-AA6D-ECC1C8CA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36703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−0.002</a:t>
            </a:r>
          </a:p>
        </p:txBody>
      </p:sp>
      <p:sp>
        <p:nvSpPr>
          <p:cNvPr id="331" name="Google Shape;331;p28">
            <a:extLst xmlns:a="http://schemas.openxmlformats.org/drawingml/2006/main">
              <a:ext uri="{FF2B5EF4-FFF2-40B4-BE49-F238E27FC236}">
                <a16:creationId xmlns:a16="http://schemas.microsoft.com/office/drawing/2014/main" id="{8851117A-DA25-4710-A553-5D74E59C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2600"/>
            <a:ext cx="1143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262626"/>
                </a:solidFill>
              </a:rPr>
              <a:t>B4</a:t>
            </a:r>
          </a:p>
        </p:txBody>
      </p:sp>
      <p:sp>
        <p:nvSpPr>
          <p:cNvPr id="332" name="Google Shape;332;p28">
            <a:extLst xmlns:a="http://schemas.openxmlformats.org/drawingml/2006/main">
              <a:ext uri="{FF2B5EF4-FFF2-40B4-BE49-F238E27FC236}">
                <a16:creationId xmlns:a16="http://schemas.microsoft.com/office/drawing/2014/main" id="{64942851-E416-4299-A224-B4F8637F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500" y="4292600"/>
            <a:ext cx="15240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Next</a:t>
            </a:r>
          </a:p>
        </p:txBody>
      </p:sp>
      <p:sp>
        <p:nvSpPr>
          <p:cNvPr id="333" name="Google Shape;333;p28">
            <a:extLst xmlns:a="http://schemas.openxmlformats.org/drawingml/2006/main">
              <a:ext uri="{FF2B5EF4-FFF2-40B4-BE49-F238E27FC236}">
                <a16:creationId xmlns:a16="http://schemas.microsoft.com/office/drawing/2014/main" id="{F28F830C-6514-4366-A116-012636DA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292600"/>
            <a:ext cx="3746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62626"/>
                </a:solidFill>
              </a:rPr>
              <a:t>Compact architecture candidate</a:t>
            </a:r>
          </a:p>
        </p:txBody>
      </p:sp>
      <p:sp>
        <p:nvSpPr>
          <p:cNvPr id="334" name="Google Shape;334;p28">
            <a:extLst xmlns:a="http://schemas.openxmlformats.org/drawingml/2006/main">
              <a:ext uri="{FF2B5EF4-FFF2-40B4-BE49-F238E27FC236}">
                <a16:creationId xmlns:a16="http://schemas.microsoft.com/office/drawing/2014/main" id="{56CF22F8-67AE-4604-BAFD-7E25961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0" y="4292600"/>
            <a:ext cx="18414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5" name="Google Shape;335;p28">
            <a:extLst xmlns:a="http://schemas.openxmlformats.org/drawingml/2006/main">
              <a:ext uri="{FF2B5EF4-FFF2-40B4-BE49-F238E27FC236}">
                <a16:creationId xmlns:a16="http://schemas.microsoft.com/office/drawing/2014/main" id="{A64FED1C-C18A-489C-B55A-EE24413D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92600"/>
            <a:ext cx="1269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6" name="Google Shape;336;p28">
            <a:extLst xmlns:a="http://schemas.openxmlformats.org/drawingml/2006/main">
              <a:ext uri="{FF2B5EF4-FFF2-40B4-BE49-F238E27FC236}">
                <a16:creationId xmlns:a16="http://schemas.microsoft.com/office/drawing/2014/main" id="{F002356A-7BFB-4B93-9F7A-126AB56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1500" y="4292600"/>
            <a:ext cx="888900" cy="533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337" name="Google Shape;337;p28">
            <a:extLst xmlns:a="http://schemas.openxmlformats.org/drawingml/2006/main">
              <a:ext uri="{FF2B5EF4-FFF2-40B4-BE49-F238E27FC236}">
                <a16:creationId xmlns:a16="http://schemas.microsoft.com/office/drawing/2014/main" id="{5845105F-F779-4219-B75C-0ADDD45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10287000" cy="7875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2DB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73400D"/>
                </a:solidFill>
              </a:rPr>
              <a:t>B3 complete: recall reached 94.42%, but unseen accuracy regressed 0.67 points. B2 stays frozen; B4 is next.</a:t>
            </a:r>
          </a:p>
        </p:txBody>
      </p:sp>
    </p:spTree>
    <p:extLst>
      <p:ext uri="{BB962C8B-B14F-4D97-AF65-F5344CB8AC3E}">
        <p14:creationId xmlns:p14="http://schemas.microsoft.com/office/powerpoint/2010/main" val="213991425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B1: evaluation foundation is now credible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14,348</a:t>
            </a:r>
            <a:r>
              <a:t> labeled tiles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14 independent</a:t>
            </a:r>
            <a:r>
              <a:t> layout families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7,784 clean / 6,564 dirty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9 new families</a:t>
            </a:r>
            <a:r>
              <a:t> admitted in B1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0 contradictory labels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2,597</a:t>
            </a:r>
            <a:r>
              <a:t> equivalent duplicates removed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Unseen split: </a:t>
            </a:r>
            <a:r>
              <a:t>6,442 / 2,627 / 2,682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Source hashes + manifest gate verified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7" name="Google Shape;167;p18">
            <a:extLst xmlns:a="http://schemas.openxmlformats.org/drawingml/2006/main">
              <a:ext uri="{FF2B5EF4-FFF2-40B4-BE49-F238E27FC236}">
                <a16:creationId xmlns:a16="http://schemas.microsoft.com/office/drawing/2014/main" id="{CC836F84-6CCF-4855-837D-6650C7919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B1 visual audit: labels trace back to DRC geometry</a:t>
            </a:r>
          </a:p>
        </p:txBody>
      </p:sp>
      <p:pic>
        <p:nvPicPr>
          <p:cNvPr id="176" name="Google Shape;168;p18"/>
          <p:cNvPicPr>
            <a:picLocks xmlns:a="http://schemas.openxmlformats.org/drawingml/2006/main" noChangeAspect="1"/>
          </p:cNvPicPr>
          <p:nvPr>
            <p:ph type="body" idx="1"/>
          </p:nvPr>
        </p:nvPicPr>
        <p:blipFill rotWithShape="1">
          <a:blip xmlns:r="http://schemas.openxmlformats.org/officeDocument/2006/relationships" xmlns:a="http://schemas.openxmlformats.org/drawingml/2006/main" r:embed="R9f764e9467b44ea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43763" y="1690688"/>
            <a:ext cx="3366478" cy="230253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7" name="Google Shape;17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75fbefed1845f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7491176" y="4156240"/>
            <a:ext cx="3366478" cy="225496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2" name="Google Shape;172;p18">
            <a:extLst xmlns:a="http://schemas.openxmlformats.org/drawingml/2006/main">
              <a:ext uri="{FF2B5EF4-FFF2-40B4-BE49-F238E27FC236}">
                <a16:creationId xmlns:a16="http://schemas.microsoft.com/office/drawing/2014/main" id="{9B373D18-2F39-4073-A75D-655EBB13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14759"/>
            <a:ext cx="6096000" cy="3570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Representative clean and dirty tiles are selected deterministically for every admitted family.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Pink overlays show the verified KLayout m1.2 violation geometry inside dirty tiles.</a:t>
            </a:r>
          </a:p>
          <a:p xmlns:a="http://schemas.openxmlformats.org/drawingml/2006/main">
            <a:pPr marL="285750" indent="-285750" algn="l">
              <a:spcBef>
                <a:spcPts val="0"/>
              </a:spcBef>
              <a:spcAft>
                <a:spcPts val="0"/>
              </a:spcAft>
              <a:buChar char="•"/>
            </a:pPr>
            <a:r>
              <a:rPr sz="2000">
                <a:solidFill>
                  <a:schemeClr val="dk1"/>
                </a:solidFill>
                <a:latin typeface="Arial"/>
                <a:ea typeface="Arial"/>
                <a:cs typeface="Arial"/>
              </a:rPr>
              <a:t>B1 confirmed coordinate registration; B6 will turn the same geometry into pixel-level segmentation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028739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B2: the unchanged CNN generalizes across layouts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92.47% ± 0.61%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Tile accuracy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90.38% ± 0.84%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Unseen accuracy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0.919 / 0.909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F1: tile / unseen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2.09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Accuracy gap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Test accuracy across seeds and protocol means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Dirty F1 across seeds and protocol means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23566"/>
            <a:ext cx="533400" cy="21676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0609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92.89%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3297"/>
            <a:ext cx="533400" cy="2157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31582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0.925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609"/>
            <a:ext cx="533400" cy="21415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21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91.77%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66434"/>
            <a:ext cx="533400" cy="2124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4896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0.910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T43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26809"/>
            <a:ext cx="533400" cy="21643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0934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92.75%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40298"/>
            <a:ext cx="533400" cy="2150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2283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0.922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T44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33320"/>
            <a:ext cx="533400" cy="2157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5852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92.47%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46832"/>
            <a:ext cx="533400" cy="2144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29364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0.919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 mean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332" y="3682070"/>
            <a:ext cx="533400" cy="21091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3669001"/>
            <a:ext cx="533400" cy="212219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B2: 90.38% on unseen layout families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Bingyao FCOTA: 92.91% accuracy / 0.940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VGA game: 89.76% accuracy / 0.887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SRAM direct: 88.97% accuracy / 0.907 F1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All values are mean results across three fixed seeds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All three test families were unseen during training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Only 2.09 accuracy points below tile-random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Dirty-F1 gap is only 0.95 points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freeze B2 and begin controlled B3 tuning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0" name="Google Shape;220;p24">
            <a:extLst xmlns:a="http://schemas.openxmlformats.org/drawingml/2006/main">
              <a:ext uri="{FF2B5EF4-FFF2-40B4-BE49-F238E27FC236}">
                <a16:creationId xmlns:a16="http://schemas.microsoft.com/office/drawing/2014/main" id="{07F11CEA-12B3-4DEC-81DE-18CFD6949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/>
              <a:t>B3: validation improved, but efficiency target missed</a:t>
            </a:r>
          </a:p>
        </p:txBody>
      </p:sp>
      <p:sp>
        <p:nvSpPr>
          <p:cNvPr id="221" name="Google Shape;221;p24">
            <a:extLst xmlns:a="http://schemas.openxmlformats.org/drawingml/2006/main">
              <a:ext uri="{FF2B5EF4-FFF2-40B4-BE49-F238E27FC236}">
                <a16:creationId xmlns:a16="http://schemas.microsoft.com/office/drawing/2014/main" id="{34FFD981-FC0C-4991-AA83-5BDA5E78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RMSprop 1e-3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B3.1 kept B2 recipe</a:t>
            </a:r>
          </a:p>
        </p:txBody>
      </p:sp>
      <p:sp>
        <p:nvSpPr>
          <p:cNvPr id="222" name="Google Shape;222;p24">
            <a:extLst xmlns:a="http://schemas.openxmlformats.org/drawingml/2006/main">
              <a:ext uri="{FF2B5EF4-FFF2-40B4-BE49-F238E27FC236}">
                <a16:creationId xmlns:a16="http://schemas.microsoft.com/office/drawing/2014/main" id="{E64DA27B-59AB-4116-88BB-4D9AC154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+0.72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F1</a:t>
            </a:r>
          </a:p>
        </p:txBody>
      </p:sp>
      <p:sp>
        <p:nvSpPr>
          <p:cNvPr id="223" name="Google Shape;223;p24">
            <a:extLst xmlns:a="http://schemas.openxmlformats.org/drawingml/2006/main">
              <a:ext uri="{FF2B5EF4-FFF2-40B4-BE49-F238E27FC236}">
                <a16:creationId xmlns:a16="http://schemas.microsoft.com/office/drawing/2014/main" id="{B359A0E4-150F-4A91-9EE7-E39ED9CF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+4.40 pts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Validation recall</a:t>
            </a:r>
          </a:p>
        </p:txBody>
      </p:sp>
      <p:sp>
        <p:nvSpPr>
          <p:cNvPr id="224" name="Google Shape;224;p24">
            <a:extLst xmlns:a="http://schemas.openxmlformats.org/drawingml/2006/main">
              <a:ext uri="{FF2B5EF4-FFF2-40B4-BE49-F238E27FC236}">
                <a16:creationId xmlns:a16="http://schemas.microsoft.com/office/drawing/2014/main" id="{448D1686-F154-4825-8455-21FA6203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68400"/>
            <a:ext cx="2476500" cy="888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5F0F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26 epochs</a:t>
            </a:r>
          </a:p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2E5496"/>
                </a:solidFill>
              </a:rPr>
              <a:t>Only 13.3% fewer</a:t>
            </a:r>
          </a:p>
        </p:txBody>
      </p:sp>
      <p:sp>
        <p:nvSpPr>
          <p:cNvPr id="225" name="Google Shape;225;p24">
            <a:extLst xmlns:a="http://schemas.openxmlformats.org/drawingml/2006/main">
              <a:ext uri="{FF2B5EF4-FFF2-40B4-BE49-F238E27FC236}">
                <a16:creationId xmlns:a16="http://schemas.microsoft.com/office/drawing/2014/main" id="{5325D149-BE92-4FD6-B792-AD4BCA70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F1 by recipe</a:t>
            </a:r>
          </a:p>
        </p:txBody>
      </p:sp>
      <p:sp>
        <p:nvSpPr>
          <p:cNvPr id="226" name="Google Shape;226;p24">
            <a:extLst xmlns:a="http://schemas.openxmlformats.org/drawingml/2006/main">
              <a:ext uri="{FF2B5EF4-FFF2-40B4-BE49-F238E27FC236}">
                <a16:creationId xmlns:a16="http://schemas.microsoft.com/office/drawing/2014/main" id="{60C63560-5372-47FA-82CD-652B71E2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9500"/>
            <a:ext cx="4889400" cy="3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333333"/>
                </a:solidFill>
              </a:rPr>
              <a:t>Validation dirty recall by recipe</a:t>
            </a:r>
          </a:p>
        </p:txBody>
      </p:sp>
      <p:sp>
        <p:nvSpPr>
          <p:cNvPr id="227" name="Google Shape;227;p24">
            <a:extLst xmlns:a="http://schemas.openxmlformats.org/drawingml/2006/main">
              <a:ext uri="{FF2B5EF4-FFF2-40B4-BE49-F238E27FC236}">
                <a16:creationId xmlns:a16="http://schemas.microsoft.com/office/drawing/2014/main" id="{D64E7AEF-FADD-4A8F-85AE-1951913F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8" name="Google Shape;228;p24">
            <a:extLst xmlns:a="http://schemas.openxmlformats.org/drawingml/2006/main">
              <a:ext uri="{FF2B5EF4-FFF2-40B4-BE49-F238E27FC236}">
                <a16:creationId xmlns:a16="http://schemas.microsoft.com/office/drawing/2014/main" id="{CE3E6F11-AB17-4D0C-A8FF-A896408B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791200"/>
            <a:ext cx="4445100" cy="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8B8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9" name="Google Shape;229;p24">
            <a:extLst xmlns:a="http://schemas.openxmlformats.org/drawingml/2006/main">
              <a:ext uri="{FF2B5EF4-FFF2-40B4-BE49-F238E27FC236}">
                <a16:creationId xmlns:a16="http://schemas.microsoft.com/office/drawing/2014/main" id="{2F7AFDFB-F63A-4D6B-8209-6D4E2E9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532" y="3659247"/>
            <a:ext cx="533400" cy="2131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0" name="Google Shape;230;p24">
            <a:extLst xmlns:a="http://schemas.openxmlformats.org/drawingml/2006/main">
              <a:ext uri="{FF2B5EF4-FFF2-40B4-BE49-F238E27FC236}">
                <a16:creationId xmlns:a16="http://schemas.microsoft.com/office/drawing/2014/main" id="{E2439BC9-CF04-423F-B024-F3872A68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1779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91.36%</a:t>
            </a:r>
          </a:p>
        </p:txBody>
      </p:sp>
      <p:sp>
        <p:nvSpPr>
          <p:cNvPr id="231" name="Google Shape;231;p24">
            <a:extLst xmlns:a="http://schemas.openxmlformats.org/drawingml/2006/main">
              <a:ext uri="{FF2B5EF4-FFF2-40B4-BE49-F238E27FC236}">
                <a16:creationId xmlns:a16="http://schemas.microsoft.com/office/drawing/2014/main" id="{7F7EE744-7600-4CE7-AC12-9394C81F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2" name="Google Shape;232;p24">
            <a:extLst xmlns:a="http://schemas.openxmlformats.org/drawingml/2006/main">
              <a:ext uri="{FF2B5EF4-FFF2-40B4-BE49-F238E27FC236}">
                <a16:creationId xmlns:a16="http://schemas.microsoft.com/office/drawing/2014/main" id="{4259327A-4EE3-4193-B3EA-A049373B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23678"/>
            <a:ext cx="533400" cy="20675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3" name="Google Shape;233;p24">
            <a:extLst xmlns:a="http://schemas.openxmlformats.org/drawingml/2006/main">
              <a:ext uri="{FF2B5EF4-FFF2-40B4-BE49-F238E27FC236}">
                <a16:creationId xmlns:a16="http://schemas.microsoft.com/office/drawing/2014/main" id="{35E9761B-EBBC-48BE-839C-C6C168A9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3406210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88.60%</a:t>
            </a:r>
          </a:p>
        </p:txBody>
      </p:sp>
      <p:sp>
        <p:nvSpPr>
          <p:cNvPr id="234" name="Google Shape;234;p24">
            <a:extLst xmlns:a="http://schemas.openxmlformats.org/drawingml/2006/main">
              <a:ext uri="{FF2B5EF4-FFF2-40B4-BE49-F238E27FC236}">
                <a16:creationId xmlns:a16="http://schemas.microsoft.com/office/drawing/2014/main" id="{5B0E341C-AE80-41C0-8D3D-2275BBF0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44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B2</a:t>
            </a:r>
          </a:p>
        </p:txBody>
      </p:sp>
      <p:sp>
        <p:nvSpPr>
          <p:cNvPr id="235" name="Google Shape;235;p24">
            <a:extLst xmlns:a="http://schemas.openxmlformats.org/drawingml/2006/main">
              <a:ext uri="{FF2B5EF4-FFF2-40B4-BE49-F238E27FC236}">
                <a16:creationId xmlns:a16="http://schemas.microsoft.com/office/drawing/2014/main" id="{9D2F9BA8-5E50-4AF8-A708-69B40A34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7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6" name="Google Shape;236;p24">
            <a:extLst xmlns:a="http://schemas.openxmlformats.org/drawingml/2006/main">
              <a:ext uri="{FF2B5EF4-FFF2-40B4-BE49-F238E27FC236}">
                <a16:creationId xmlns:a16="http://schemas.microsoft.com/office/drawing/2014/main" id="{7C852366-3ED7-4301-B0B7-15A5B7E2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37" name="Google Shape;237;p24">
            <a:extLst xmlns:a="http://schemas.openxmlformats.org/drawingml/2006/main">
              <a:ext uri="{FF2B5EF4-FFF2-40B4-BE49-F238E27FC236}">
                <a16:creationId xmlns:a16="http://schemas.microsoft.com/office/drawing/2014/main" id="{54A865A6-9679-4330-9417-8AD67C6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38" name="Google Shape;238;p24">
            <a:extLst xmlns:a="http://schemas.openxmlformats.org/drawingml/2006/main">
              <a:ext uri="{FF2B5EF4-FFF2-40B4-BE49-F238E27FC236}">
                <a16:creationId xmlns:a16="http://schemas.microsoft.com/office/drawing/2014/main" id="{A92C332C-C659-4C97-9748-7ACA7B7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9" name="Google Shape;239;p24">
            <a:extLst xmlns:a="http://schemas.openxmlformats.org/drawingml/2006/main">
              <a:ext uri="{FF2B5EF4-FFF2-40B4-BE49-F238E27FC236}">
                <a16:creationId xmlns:a16="http://schemas.microsoft.com/office/drawing/2014/main" id="{7ACB9D0F-EBCE-4CA8-8E60-F9B86F2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0" name="Google Shape;240;p24">
            <a:extLst xmlns:a="http://schemas.openxmlformats.org/drawingml/2006/main">
              <a:ext uri="{FF2B5EF4-FFF2-40B4-BE49-F238E27FC236}">
                <a16:creationId xmlns:a16="http://schemas.microsoft.com/office/drawing/2014/main" id="{3C4B027B-6184-4E32-8208-F8CA608A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6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Sched</a:t>
            </a:r>
          </a:p>
        </p:txBody>
      </p:sp>
      <p:sp>
        <p:nvSpPr>
          <p:cNvPr id="241" name="Google Shape;241;p24">
            <a:extLst xmlns:a="http://schemas.openxmlformats.org/drawingml/2006/main">
              <a:ext uri="{FF2B5EF4-FFF2-40B4-BE49-F238E27FC236}">
                <a16:creationId xmlns:a16="http://schemas.microsoft.com/office/drawing/2014/main" id="{BFFD5909-39F1-4DF7-97AE-55B7D5F1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2932" y="3649446"/>
            <a:ext cx="533400" cy="21417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24">
            <a:extLst xmlns:a="http://schemas.openxmlformats.org/drawingml/2006/main">
              <a:ext uri="{FF2B5EF4-FFF2-40B4-BE49-F238E27FC236}">
                <a16:creationId xmlns:a16="http://schemas.microsoft.com/office/drawing/2014/main" id="{0EDC3AFF-87BC-43A7-ACAA-7C7B506C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31977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91.78%</a:t>
            </a:r>
          </a:p>
        </p:txBody>
      </p:sp>
      <p:sp>
        <p:nvSpPr>
          <p:cNvPr id="243" name="Google Shape;243;p24">
            <a:extLst xmlns:a="http://schemas.openxmlformats.org/drawingml/2006/main">
              <a:ext uri="{FF2B5EF4-FFF2-40B4-BE49-F238E27FC236}">
                <a16:creationId xmlns:a16="http://schemas.microsoft.com/office/drawing/2014/main" id="{92A8445F-1FB0-4697-9F9D-FF59D9D8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4" name="Google Shape;244;p24">
            <a:extLst xmlns:a="http://schemas.openxmlformats.org/drawingml/2006/main">
              <a:ext uri="{FF2B5EF4-FFF2-40B4-BE49-F238E27FC236}">
                <a16:creationId xmlns:a16="http://schemas.microsoft.com/office/drawing/2014/main" id="{7D97596A-3BFB-497A-84E3-7D68FAC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695395"/>
            <a:ext cx="533400" cy="20958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5" name="Google Shape;245;p24">
            <a:extLst xmlns:a="http://schemas.openxmlformats.org/drawingml/2006/main">
              <a:ext uri="{FF2B5EF4-FFF2-40B4-BE49-F238E27FC236}">
                <a16:creationId xmlns:a16="http://schemas.microsoft.com/office/drawing/2014/main" id="{073981FC-B440-4AA1-924E-FD17CE16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3377926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89.81%</a:t>
            </a:r>
          </a:p>
        </p:txBody>
      </p:sp>
      <p:sp>
        <p:nvSpPr>
          <p:cNvPr id="246" name="Google Shape;246;p24">
            <a:extLst xmlns:a="http://schemas.openxmlformats.org/drawingml/2006/main">
              <a:ext uri="{FF2B5EF4-FFF2-40B4-BE49-F238E27FC236}">
                <a16:creationId xmlns:a16="http://schemas.microsoft.com/office/drawing/2014/main" id="{67912E2C-D43C-462D-8941-AFD494C9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08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Early</a:t>
            </a:r>
          </a:p>
        </p:txBody>
      </p:sp>
      <p:sp>
        <p:nvSpPr>
          <p:cNvPr id="247" name="Google Shape;247;p24">
            <a:extLst xmlns:a="http://schemas.openxmlformats.org/drawingml/2006/main">
              <a:ext uri="{FF2B5EF4-FFF2-40B4-BE49-F238E27FC236}">
                <a16:creationId xmlns:a16="http://schemas.microsoft.com/office/drawing/2014/main" id="{6739EDC7-344C-4B71-A3C7-39707247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32" y="3642421"/>
            <a:ext cx="533400" cy="21487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8" name="Google Shape;248;p24">
            <a:extLst xmlns:a="http://schemas.openxmlformats.org/drawingml/2006/main">
              <a:ext uri="{FF2B5EF4-FFF2-40B4-BE49-F238E27FC236}">
                <a16:creationId xmlns:a16="http://schemas.microsoft.com/office/drawing/2014/main" id="{32CBA057-F3DF-4116-A45C-91F8FF45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2495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92.08%</a:t>
            </a:r>
          </a:p>
        </p:txBody>
      </p:sp>
      <p:sp>
        <p:nvSpPr>
          <p:cNvPr id="249" name="Google Shape;249;p24">
            <a:extLst xmlns:a="http://schemas.openxmlformats.org/drawingml/2006/main">
              <a:ext uri="{FF2B5EF4-FFF2-40B4-BE49-F238E27FC236}">
                <a16:creationId xmlns:a16="http://schemas.microsoft.com/office/drawing/2014/main" id="{7C480CCA-4BBA-499D-9F9D-EFE2E5E5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0" name="Google Shape;250;p24">
            <a:extLst xmlns:a="http://schemas.openxmlformats.org/drawingml/2006/main">
              <a:ext uri="{FF2B5EF4-FFF2-40B4-BE49-F238E27FC236}">
                <a16:creationId xmlns:a16="http://schemas.microsoft.com/office/drawing/2014/main" id="{DCEA9562-EA77-4405-83E7-AB9A14F7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0999"/>
            <a:ext cx="533400" cy="21702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24">
            <a:extLst xmlns:a="http://schemas.openxmlformats.org/drawingml/2006/main">
              <a:ext uri="{FF2B5EF4-FFF2-40B4-BE49-F238E27FC236}">
                <a16:creationId xmlns:a16="http://schemas.microsoft.com/office/drawing/2014/main" id="{DA67171C-4EF2-48F6-A6F5-4EA64F8C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330353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93.00%</a:t>
            </a:r>
          </a:p>
        </p:txBody>
      </p:sp>
      <p:sp>
        <p:nvSpPr>
          <p:cNvPr id="252" name="Google Shape;252;p24">
            <a:extLst xmlns:a="http://schemas.openxmlformats.org/drawingml/2006/main">
              <a:ext uri="{FF2B5EF4-FFF2-40B4-BE49-F238E27FC236}">
                <a16:creationId xmlns:a16="http://schemas.microsoft.com/office/drawing/2014/main" id="{30CC1582-8A2E-4F2B-A98A-F746E0E2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Thresh</a:t>
            </a:r>
          </a:p>
        </p:txBody>
      </p:sp>
      <p:sp>
        <p:nvSpPr>
          <p:cNvPr id="253" name="Google Shape;253;p24">
            <a:extLst xmlns:a="http://schemas.openxmlformats.org/drawingml/2006/main">
              <a:ext uri="{FF2B5EF4-FFF2-40B4-BE49-F238E27FC236}">
                <a16:creationId xmlns:a16="http://schemas.microsoft.com/office/drawing/2014/main" id="{AFA61B2C-4E1D-4FE9-9E0A-478D3610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49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24">
            <a:extLst xmlns:a="http://schemas.openxmlformats.org/drawingml/2006/main">
              <a:ext uri="{FF2B5EF4-FFF2-40B4-BE49-F238E27FC236}">
                <a16:creationId xmlns:a16="http://schemas.microsoft.com/office/drawing/2014/main" id="{096789E1-7160-45E9-AF2B-91161226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64601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90.38%</a:t>
            </a:r>
          </a:p>
        </p:txBody>
      </p:sp>
      <p:sp>
        <p:nvSpPr>
          <p:cNvPr id="255" name="Google Shape;255;p24">
            <a:extLst xmlns:a="http://schemas.openxmlformats.org/drawingml/2006/main">
              <a:ext uri="{FF2B5EF4-FFF2-40B4-BE49-F238E27FC236}">
                <a16:creationId xmlns:a16="http://schemas.microsoft.com/office/drawing/2014/main" id="{217B4067-DDE7-49F9-945B-102BDE6C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  <p:sp>
        <p:nvSpPr>
          <p:cNvPr id="256" name="Google Shape;256;p24">
            <a:extLst xmlns:a="http://schemas.openxmlformats.org/drawingml/2006/main">
              <a:ext uri="{FF2B5EF4-FFF2-40B4-BE49-F238E27FC236}">
                <a16:creationId xmlns:a16="http://schemas.microsoft.com/office/drawing/2014/main" id="{DDC8BE7E-B239-41DC-9951-DD30E580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24">
            <a:extLst xmlns:a="http://schemas.openxmlformats.org/drawingml/2006/main">
              <a:ext uri="{FF2B5EF4-FFF2-40B4-BE49-F238E27FC236}">
                <a16:creationId xmlns:a16="http://schemas.microsoft.com/office/drawing/2014/main" id="{6CC6804D-C7C8-4BF3-A2E5-137FED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3351533"/>
            <a:ext cx="660273" cy="2792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333333"/>
                </a:solidFill>
              </a:rPr>
              <a:t>0.909</a:t>
            </a:r>
          </a:p>
        </p:txBody>
      </p:sp>
      <p:sp>
        <p:nvSpPr>
          <p:cNvPr id="258" name="Google Shape;258;p24">
            <a:extLst xmlns:a="http://schemas.openxmlformats.org/drawingml/2006/main">
              <a:ext uri="{FF2B5EF4-FFF2-40B4-BE49-F238E27FC236}">
                <a16:creationId xmlns:a16="http://schemas.microsoft.com/office/drawing/2014/main" id="{E2A56AA0-A4A5-4CBC-B17F-A51D28D3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7268" y="5867400"/>
            <a:ext cx="660273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rgbClr val="333333"/>
                </a:solidFill>
              </a:rPr>
              <a:t>U mean</a:t>
            </a:r>
          </a:p>
        </p:txBody>
      </p:sp>
    </p:spTree>
    <p:extLst>
      <p:ext uri="{BB962C8B-B14F-4D97-AF65-F5344CB8AC3E}">
        <p14:creationId xmlns:p14="http://schemas.microsoft.com/office/powerpoint/2010/main" val="200716219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23">
            <a:extLst xmlns:a="http://schemas.openxmlformats.org/drawingml/2006/main">
              <a:ext uri="{FF2B5EF4-FFF2-40B4-BE49-F238E27FC236}">
                <a16:creationId xmlns:a16="http://schemas.microsoft.com/office/drawing/2014/main" id="{CEA2EDDF-A2CD-44CF-98BB-801657D2DD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B3: recall gain failed confirmation</a:t>
            </a:r>
          </a:p>
        </p:txBody>
      </p:sp>
      <p:sp>
        <p:nvSpPr>
          <p:cNvPr id="213" name="Google Shape;213;p23">
            <a:extLst xmlns:a="http://schemas.openxmlformats.org/drawingml/2006/main">
              <a:ext uri="{FF2B5EF4-FFF2-40B4-BE49-F238E27FC236}">
                <a16:creationId xmlns:a16="http://schemas.microsoft.com/office/drawing/2014/main" id="{DF709342-A5A8-450D-BE61-4B8EA771B3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Accuracy: 89.71% (−0.67 points vs. B2)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recall: 94.42% (+3.69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Dirty F1: 90.72% (−0.22 points)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Accuracy exceeded the 0.5-point tolerance</a:t>
            </a:r>
          </a:p>
        </p:txBody>
      </p:sp>
      <p:sp>
        <p:nvSpPr>
          <p:cNvPr id="214" name="Google Shape;214;p23">
            <a:extLst xmlns:a="http://schemas.openxmlformats.org/drawingml/2006/main">
              <a:ext uri="{FF2B5EF4-FFF2-40B4-BE49-F238E27FC236}">
                <a16:creationId xmlns:a16="http://schemas.microsoft.com/office/drawing/2014/main" id="{391DC8AD-B282-472F-BADA-EE209EE8D6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spcBef>
                <a:spcPts val="1000"/>
              </a:spcBef>
              <a:spcAft>
                <a:spcPts val="0"/>
              </a:spcAft>
              <a:buChar char="●"/>
            </a:pPr>
            <a:r>
              <a:t>Tile reference held: 92.52% accuracy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Selection used validation data only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Decision: retain B2 as frozen baseline</a:t>
            </a:r>
          </a:p>
          <a:p xmlns:a="http://schemas.openxmlformats.org/drawingml/2006/main">
            <a:pPr marL="457200" indent="-342900" algn="l">
              <a:spcBef>
                <a:spcPts val="0"/>
              </a:spcBef>
              <a:spcAft>
                <a:spcPts val="0"/>
              </a:spcAft>
              <a:buChar char="●"/>
            </a:pPr>
            <a:r>
              <a:t>Next: B4 architecture test with B2 recipe</a:t>
            </a:r>
          </a:p>
        </p:txBody>
      </p:sp>
    </p:spTree>
    <p:extLst>
      <p:ext uri="{BB962C8B-B14F-4D97-AF65-F5344CB8AC3E}">
        <p14:creationId xmlns:p14="http://schemas.microsoft.com/office/powerpoint/2010/main" val="46341643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2026-08-02T16:40:11.1980000Z</dcterms:created>
  <dcterms:modified xsi:type="dcterms:W3CDTF">2026-08-02T16:40:11.1980000Z</dcterms:modified>
</coreProperties>
</file>