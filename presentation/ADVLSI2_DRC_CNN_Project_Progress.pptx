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fb92bcf66548d1" /><Relationship Type="http://schemas.openxmlformats.org/officeDocument/2006/relationships/extended-properties" Target="/docProps/app.xml" Id="R08fd652e53b94f70" /><Relationship Type="http://schemas.openxmlformats.org/officeDocument/2006/relationships/officeDocument" Target="/ppt/presentation.xml" Id="Rdab52bd9a0ec403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4965300c2d748d2"/>
  </p:sldMasterIdLst>
  <p:notesMasterIdLst>
    <p:notesMasterId xmlns:r="http://schemas.openxmlformats.org/officeDocument/2006/relationships" r:id="R029d55129ee543bc"/>
  </p:notesMasterIdLst>
  <p:sldIdLst>
    <p:sldId xmlns:r="http://schemas.openxmlformats.org/officeDocument/2006/relationships" id="256" r:id="R9f05c99a0b89455e"/>
    <p:sldId xmlns:r="http://schemas.openxmlformats.org/officeDocument/2006/relationships" id="257" r:id="R8736e19dad3e4e1a"/>
    <p:sldId xmlns:r="http://schemas.openxmlformats.org/officeDocument/2006/relationships" id="258" r:id="R85fe537961a64793"/>
    <p:sldId xmlns:r="http://schemas.openxmlformats.org/officeDocument/2006/relationships" id="259" r:id="Re9c1326482da4f83"/>
    <p:sldId xmlns:r="http://schemas.openxmlformats.org/officeDocument/2006/relationships" id="260" r:id="Rb4424a6d9b014dd2"/>
    <p:sldId xmlns:r="http://schemas.openxmlformats.org/officeDocument/2006/relationships" id="261" r:id="R6123117c91bb49f3"/>
    <p:sldId xmlns:r="http://schemas.openxmlformats.org/officeDocument/2006/relationships" id="262" r:id="Rf1c090fae1e24c9e"/>
    <p:sldId xmlns:r="http://schemas.openxmlformats.org/officeDocument/2006/relationships" id="263" r:id="R8d0b0eb217bb4081"/>
    <p:sldId xmlns:r="http://schemas.openxmlformats.org/officeDocument/2006/relationships" id="264" r:id="R609403551b894615"/>
    <p:sldId xmlns:r="http://schemas.openxmlformats.org/officeDocument/2006/relationships" id="265" r:id="R2850db0b9fea4fbe"/>
    <p:sldId xmlns:r="http://schemas.openxmlformats.org/officeDocument/2006/relationships" id="266" r:id="R93359135d16e44b5"/>
    <p:sldId xmlns:r="http://schemas.openxmlformats.org/officeDocument/2006/relationships" id="267" r:id="R46de41ad47bc4b88"/>
    <p:sldId xmlns:r="http://schemas.openxmlformats.org/officeDocument/2006/relationships" id="268" r:id="R1871c2b951f54351"/>
    <p:sldId xmlns:r="http://schemas.openxmlformats.org/officeDocument/2006/relationships" id="269" r:id="R2a728a3a2db74ede"/>
    <p:sldId xmlns:r="http://schemas.openxmlformats.org/officeDocument/2006/relationships" id="270" r:id="R196b18471eb24af2"/>
    <p:sldId xmlns:r="http://schemas.openxmlformats.org/officeDocument/2006/relationships" id="271" r:id="R028b57b3442443ac"/>
    <p:sldId xmlns:r="http://schemas.openxmlformats.org/officeDocument/2006/relationships" id="272" r:id="R900b5d1698df4b3f"/>
    <p:sldId xmlns:r="http://schemas.openxmlformats.org/officeDocument/2006/relationships" id="273" r:id="Rd281bf7567874ed1"/>
  </p:sldIdLst>
  <p:sldSz cx="12192000" cy="6858000"/>
  <p:notesSz cx="6858000" cy="9144000"/>
  <p:embeddedFontLst>
    <p:embeddedFont>
      <p:font typeface="Play"/>
      <p:regular xmlns:r="http://schemas.openxmlformats.org/officeDocument/2006/relationships" r:id="Re28b6f89b8754f32"/>
      <p:bold xmlns:r="http://schemas.openxmlformats.org/officeDocument/2006/relationships" r:id="Rf2619857aac2433a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6a37cdf37142bf" /><Relationship Type="http://schemas.openxmlformats.org/officeDocument/2006/relationships/slideMaster" Target="/ppt/slideMasters/slideMaster1.xml" Id="R34965300c2d748d2" /><Relationship Type="http://schemas.openxmlformats.org/officeDocument/2006/relationships/notesMaster" Target="/ppt/notesMasters/notesMaster1.xml" Id="R029d55129ee543bc" /><Relationship Type="http://schemas.openxmlformats.org/officeDocument/2006/relationships/presProps" Target="/ppt/presProps.xml" Id="R1088d04dc41041b0" /><Relationship Type="http://schemas.openxmlformats.org/officeDocument/2006/relationships/tableStyles" Target="/ppt/tableStyles.xml" Id="Ra17ae6271d074f5c" /><Relationship Type="http://schemas.openxmlformats.org/officeDocument/2006/relationships/font" Target="/ppt/fonts/font.dat" Id="Re28b6f89b8754f32" /><Relationship Type="http://schemas.openxmlformats.org/officeDocument/2006/relationships/font" Target="/ppt/fonts/font2.dat" Id="Rf2619857aac2433a" /><Relationship Type="http://schemas.openxmlformats.org/officeDocument/2006/relationships/slide" Target="/ppt/slides/slide1.xml" Id="R9f05c99a0b89455e" /><Relationship Type="http://schemas.openxmlformats.org/officeDocument/2006/relationships/slide" Target="/ppt/slides/slide2.xml" Id="R8736e19dad3e4e1a" /><Relationship Type="http://schemas.openxmlformats.org/officeDocument/2006/relationships/slide" Target="/ppt/slides/slide3.xml" Id="R85fe537961a64793" /><Relationship Type="http://schemas.openxmlformats.org/officeDocument/2006/relationships/slide" Target="/ppt/slides/slide4.xml" Id="Re9c1326482da4f83" /><Relationship Type="http://schemas.openxmlformats.org/officeDocument/2006/relationships/slide" Target="/ppt/slides/slide5.xml" Id="Rb4424a6d9b014dd2" /><Relationship Type="http://schemas.openxmlformats.org/officeDocument/2006/relationships/slide" Target="/ppt/slides/slide6.xml" Id="R6123117c91bb49f3" /><Relationship Type="http://schemas.openxmlformats.org/officeDocument/2006/relationships/slide" Target="/ppt/slides/slide7.xml" Id="Rf1c090fae1e24c9e" /><Relationship Type="http://schemas.openxmlformats.org/officeDocument/2006/relationships/slide" Target="/ppt/slides/slide8.xml" Id="R8d0b0eb217bb4081" /><Relationship Type="http://schemas.openxmlformats.org/officeDocument/2006/relationships/slide" Target="/ppt/slides/slide9.xml" Id="R609403551b894615" /><Relationship Type="http://schemas.openxmlformats.org/officeDocument/2006/relationships/slide" Target="/ppt/slides/slide10.xml" Id="R2850db0b9fea4fbe" /><Relationship Type="http://schemas.openxmlformats.org/officeDocument/2006/relationships/slide" Target="/ppt/slides/slide11.xml" Id="R93359135d16e44b5" /><Relationship Type="http://schemas.openxmlformats.org/officeDocument/2006/relationships/slide" Target="/ppt/slides/slide12.xml" Id="R46de41ad47bc4b88" /><Relationship Type="http://schemas.openxmlformats.org/officeDocument/2006/relationships/slide" Target="/ppt/slides/slide13.xml" Id="R1871c2b951f54351" /><Relationship Type="http://schemas.openxmlformats.org/officeDocument/2006/relationships/slide" Target="/ppt/slides/slide14.xml" Id="R2a728a3a2db74ede" /><Relationship Type="http://schemas.openxmlformats.org/officeDocument/2006/relationships/slide" Target="/ppt/slides/slide15.xml" Id="R196b18471eb24af2" /><Relationship Type="http://schemas.openxmlformats.org/officeDocument/2006/relationships/slide" Target="/ppt/slides/slide16.xml" Id="R028b57b3442443ac" /><Relationship Type="http://schemas.openxmlformats.org/officeDocument/2006/relationships/slide" Target="/ppt/slides/slide17.xml" Id="R900b5d1698df4b3f" /><Relationship Type="http://schemas.openxmlformats.org/officeDocument/2006/relationships/slide" Target="/ppt/slides/slide18.xml" Id="Rd281bf7567874e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c2642ea65f44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28cbff05a0412a" /><Relationship Type="http://schemas.openxmlformats.org/officeDocument/2006/relationships/notesMaster" Target="/ppt/notesMasters/notesMaster1.xml" Id="R2938bdc7d4384a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4fb1a7c48e423f" /><Relationship Type="http://schemas.openxmlformats.org/officeDocument/2006/relationships/notesMaster" Target="/ppt/notesMasters/notesMaster1.xml" Id="R35b3867942dd4d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5ceae0ef1542e9" /><Relationship Type="http://schemas.openxmlformats.org/officeDocument/2006/relationships/notesMaster" Target="/ppt/notesMasters/notesMaster1.xml" Id="Rf6acd94a811b49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728be02979e41f5" /><Relationship Type="http://schemas.openxmlformats.org/officeDocument/2006/relationships/notesMaster" Target="/ppt/notesMasters/notesMaster1.xml" Id="Ra1ec8fef3d2b4f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8fbe9c28f9498a" /><Relationship Type="http://schemas.openxmlformats.org/officeDocument/2006/relationships/notesMaster" Target="/ppt/notesMasters/notesMaster1.xml" Id="R7881281743ea40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fb853fae744766" /><Relationship Type="http://schemas.openxmlformats.org/officeDocument/2006/relationships/notesMaster" Target="/ppt/notesMasters/notesMaster1.xml" Id="Rd6dfedad24c3432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3eddc09ca74752" /><Relationship Type="http://schemas.openxmlformats.org/officeDocument/2006/relationships/notesMaster" Target="/ppt/notesMasters/notesMaster1.xml" Id="Ra728ea372e1446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d3cda4ec114487" /><Relationship Type="http://schemas.openxmlformats.org/officeDocument/2006/relationships/notesMaster" Target="/ppt/notesMasters/notesMaster1.xml" Id="Re05565f714524b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6726cd6d9404434" /><Relationship Type="http://schemas.openxmlformats.org/officeDocument/2006/relationships/notesMaster" Target="/ppt/notesMasters/notesMaster1.xml" Id="R2dc7165fb55f4eb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1795f7f289462f" /><Relationship Type="http://schemas.openxmlformats.org/officeDocument/2006/relationships/notesMaster" Target="/ppt/notesMasters/notesMaster1.xml" Id="R907b7e76a97342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7fd51c638b24214" /><Relationship Type="http://schemas.openxmlformats.org/officeDocument/2006/relationships/notesMaster" Target="/ppt/notesMasters/notesMaster1.xml" Id="Rb566a972cd204c0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76d0fa742d94ab3" /><Relationship Type="http://schemas.openxmlformats.org/officeDocument/2006/relationships/notesMaster" Target="/ppt/notesMasters/notesMaster1.xml" Id="Rd9b78d8414d344b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df3f48465f841e5" /><Relationship Type="http://schemas.openxmlformats.org/officeDocument/2006/relationships/notesMaster" Target="/ppt/notesMasters/notesMaster1.xml" Id="R9ae9991a57334c4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c619246b0ce46cb" /><Relationship Type="http://schemas.openxmlformats.org/officeDocument/2006/relationships/notesMaster" Target="/ppt/notesMasters/notesMaster1.xml" Id="Raa9b02410ec74c7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d453454d902430b" /><Relationship Type="http://schemas.openxmlformats.org/officeDocument/2006/relationships/notesMaster" Target="/ppt/notesMasters/notesMaster1.xml" Id="Ra178a61ed8bd4ae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c506d889df546a1" /><Relationship Type="http://schemas.openxmlformats.org/officeDocument/2006/relationships/notesMaster" Target="/ppt/notesMasters/notesMaster1.xml" Id="R9c1bf4cfd1c64c0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cdc0f14d03c4d33" /><Relationship Type="http://schemas.openxmlformats.org/officeDocument/2006/relationships/notesMaster" Target="/ppt/notesMasters/notesMaster1.xml" Id="Ra76b568477a24a0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efbcca0920c47ce" /><Relationship Type="http://schemas.openxmlformats.org/officeDocument/2006/relationships/notesMaster" Target="/ppt/notesMasters/notesMaster1.xml" Id="Rdd636ed657ee41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dk1"/>
                </a:solidFill>
                <a:latin typeface="Arial"/>
                <a:ea typeface="Arial"/>
                <a:cs typeface="Arial"/>
              </a:rPr>
              <a:t>https://github.com/TinyTapeout/tinytapeout-sky-26a/tree/main/projects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https://skywater-pdk.readthedocs.io/en/main/rules/periphery.html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data/b1_current_audit/label_audit_grid.png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c1e2f0b80d467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5f273ed4da47a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65674ba1c2461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96aa9aa6e74e1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abb085edc8474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ac41e4616748e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6b205aa1a1442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10d3ab825842f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78967df1704b9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6ee31c6bb24be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61420eaf5e41a0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2">
            <a:extLst xmlns:a="http://schemas.openxmlformats.org/drawingml/2006/main">
              <a:ext uri="{FF2B5EF4-FFF2-40B4-BE49-F238E27FC236}">
                <a16:creationId xmlns:a16="http://schemas.microsoft.com/office/drawing/2014/main" id="{3A1FEE28-DB47-4EF9-9CD1-CCB17C4F8A6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7" name="Google Shape;17;p2">
            <a:extLst xmlns:a="http://schemas.openxmlformats.org/drawingml/2006/main">
              <a:ext uri="{FF2B5EF4-FFF2-40B4-BE49-F238E27FC236}">
                <a16:creationId xmlns:a16="http://schemas.microsoft.com/office/drawing/2014/main" id="{CAF12BFB-FDC9-4875-BE24-BEAE4F67767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18" name="Google Shape;18;p2">
            <a:extLst xmlns:a="http://schemas.openxmlformats.org/drawingml/2006/main">
              <a:ext uri="{FF2B5EF4-FFF2-40B4-BE49-F238E27FC236}">
                <a16:creationId xmlns:a16="http://schemas.microsoft.com/office/drawing/2014/main" id="{188F87BD-88E6-45C5-97CE-BB641B2E72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2">
            <a:extLst xmlns:a="http://schemas.openxmlformats.org/drawingml/2006/main">
              <a:ext uri="{FF2B5EF4-FFF2-40B4-BE49-F238E27FC236}">
                <a16:creationId xmlns:a16="http://schemas.microsoft.com/office/drawing/2014/main" id="{1C42363E-1DDD-46E7-85C8-7E291D84D8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2">
            <a:extLst xmlns:a="http://schemas.openxmlformats.org/drawingml/2006/main">
              <a:ext uri="{FF2B5EF4-FFF2-40B4-BE49-F238E27FC236}">
                <a16:creationId xmlns:a16="http://schemas.microsoft.com/office/drawing/2014/main" id="{BD1FE465-5D78-4A88-9032-03294F38A9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590363D3-6F89-4C3D-BCD0-3E3F785A2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0541B812-43D5-4B23-850D-E76E62236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2F5866EA-4236-43FF-94A9-E4E1218E6E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EAB2B8A1-F83D-4E87-9A48-02833E123F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4C0F90C0-3695-45E1-A647-114D711FFE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3F866835-FCF3-455A-B4E3-2F0AA15EE4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4B0039FF-BF0D-4197-B8B1-BF3302DBEE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EDBF4417-6E9B-4351-BACB-8AF9DFE94B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DA9DACCA-F1C7-4FF9-81FC-5B4B08E0C9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07A69BCC-927D-4E94-8EFA-A8795E2BA7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611E7135-61D0-4075-9B24-D8B4303FA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C83F2251-9377-42FC-A001-AE53FB8385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BD5C32AA-0344-4F3F-8C5F-E02B0ACA24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7" name="Google Shape;37;p5">
            <a:extLst xmlns:a="http://schemas.openxmlformats.org/drawingml/2006/main">
              <a:ext uri="{FF2B5EF4-FFF2-40B4-BE49-F238E27FC236}">
                <a16:creationId xmlns:a16="http://schemas.microsoft.com/office/drawing/2014/main" id="{51D858CD-6C8F-471D-8032-274BB1549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6529CC9A-FA64-4317-B4F3-55720F194E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ADEE7260-63EC-48A6-AF97-57CF09B5F5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CAEEE20A-EB33-41BE-AD09-768E72B3DD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55BBE4E9-0FEA-4B1B-B77C-0879F3F57E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3" name="Google Shape;43;p6">
            <a:extLst xmlns:a="http://schemas.openxmlformats.org/drawingml/2006/main">
              <a:ext uri="{FF2B5EF4-FFF2-40B4-BE49-F238E27FC236}">
                <a16:creationId xmlns:a16="http://schemas.microsoft.com/office/drawing/2014/main" id="{F3725A43-D98A-4AD2-B98C-62234DDCF06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4" name="Google Shape;44;p6">
            <a:extLst xmlns:a="http://schemas.openxmlformats.org/drawingml/2006/main">
              <a:ext uri="{FF2B5EF4-FFF2-40B4-BE49-F238E27FC236}">
                <a16:creationId xmlns:a16="http://schemas.microsoft.com/office/drawing/2014/main" id="{088D1FF3-6F27-433E-A0E0-FFD958088F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5" name="Google Shape;45;p6">
            <a:extLst xmlns:a="http://schemas.openxmlformats.org/drawingml/2006/main">
              <a:ext uri="{FF2B5EF4-FFF2-40B4-BE49-F238E27FC236}">
                <a16:creationId xmlns:a16="http://schemas.microsoft.com/office/drawing/2014/main" id="{746113AD-00E9-462C-9432-24E411BB44B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6" name="Google Shape;46;p6">
            <a:extLst xmlns:a="http://schemas.openxmlformats.org/drawingml/2006/main">
              <a:ext uri="{FF2B5EF4-FFF2-40B4-BE49-F238E27FC236}">
                <a16:creationId xmlns:a16="http://schemas.microsoft.com/office/drawing/2014/main" id="{93720B6C-9BE9-49E7-A5E8-84CAD2D25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6">
            <a:extLst xmlns:a="http://schemas.openxmlformats.org/drawingml/2006/main">
              <a:ext uri="{FF2B5EF4-FFF2-40B4-BE49-F238E27FC236}">
                <a16:creationId xmlns:a16="http://schemas.microsoft.com/office/drawing/2014/main" id="{E16E7863-DFAA-41ED-9977-AC8223A93D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6">
            <a:extLst xmlns:a="http://schemas.openxmlformats.org/drawingml/2006/main">
              <a:ext uri="{FF2B5EF4-FFF2-40B4-BE49-F238E27FC236}">
                <a16:creationId xmlns:a16="http://schemas.microsoft.com/office/drawing/2014/main" id="{EFF31786-A4C5-43D9-AE26-70CCA54FD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9D1A6DE3-9341-400F-AAE5-F20736686D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1" name="Google Shape;51;p7">
            <a:extLst xmlns:a="http://schemas.openxmlformats.org/drawingml/2006/main">
              <a:ext uri="{FF2B5EF4-FFF2-40B4-BE49-F238E27FC236}">
                <a16:creationId xmlns:a16="http://schemas.microsoft.com/office/drawing/2014/main" id="{62954F1F-74A2-48CC-AC73-5DC1C9A22E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7">
            <a:extLst xmlns:a="http://schemas.openxmlformats.org/drawingml/2006/main">
              <a:ext uri="{FF2B5EF4-FFF2-40B4-BE49-F238E27FC236}">
                <a16:creationId xmlns:a16="http://schemas.microsoft.com/office/drawing/2014/main" id="{E3C261D3-FE35-4A9F-B57F-C1C3DC64F6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7">
            <a:extLst xmlns:a="http://schemas.openxmlformats.org/drawingml/2006/main">
              <a:ext uri="{FF2B5EF4-FFF2-40B4-BE49-F238E27FC236}">
                <a16:creationId xmlns:a16="http://schemas.microsoft.com/office/drawing/2014/main" id="{186629B3-30EB-4595-A83C-DFAF673564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A4B711EB-9416-4623-883E-65205197BE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E8FB4F64-39D9-4BE9-8323-35D257ECBA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7" name="Google Shape;57;p8">
            <a:extLst xmlns:a="http://schemas.openxmlformats.org/drawingml/2006/main">
              <a:ext uri="{FF2B5EF4-FFF2-40B4-BE49-F238E27FC236}">
                <a16:creationId xmlns:a16="http://schemas.microsoft.com/office/drawing/2014/main" id="{9448B1B2-0393-4804-BE41-E5159ED2D4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36641DDF-7E66-4660-9A07-5B66201A2D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60A0CF17-8D81-4722-AF91-1A7AA917C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4B441782-7617-4C68-B9DD-256861C0EB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72E5237B-D8EA-45E3-88C0-AD00BC6ADA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C57FB885-E119-4147-9F49-9157158749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050DD29F-6708-47B0-9631-31C86AEEDB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E1F90C3D-DA79-4643-B2C1-D95EF16F7C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B22DC19A-6418-433F-89AA-C0997E0A851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24C3DB2E-E94D-4BA9-8811-C343F408FA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9" name="Google Shape;69;p10">
            <a:extLst xmlns:a="http://schemas.openxmlformats.org/drawingml/2006/main">
              <a:ext uri="{FF2B5EF4-FFF2-40B4-BE49-F238E27FC236}">
                <a16:creationId xmlns:a16="http://schemas.microsoft.com/office/drawing/2014/main" id="{F9DD50EA-686C-476E-82EA-3EBDF5E495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0B32A72-4211-4E96-8DE5-43BDD502D1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96BABF51-66CE-408B-8FBC-86E9D642F3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7EBBC291-8AFF-4218-8F35-49D91D5B97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4" name="Google Shape;74;p11">
            <a:extLst xmlns:a="http://schemas.openxmlformats.org/drawingml/2006/main">
              <a:ext uri="{FF2B5EF4-FFF2-40B4-BE49-F238E27FC236}">
                <a16:creationId xmlns:a16="http://schemas.microsoft.com/office/drawing/2014/main" id="{C399C967-327A-4D1B-BB72-B6AA9EF522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229F0C8B-0B1E-418A-9A01-39DA13AF54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9F830AC1-C89A-46FC-93A1-FCF24D4BE7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2E821FE5-C455-4E09-A029-4A03057B0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12">
            <a:extLst xmlns:a="http://schemas.openxmlformats.org/drawingml/2006/main">
              <a:ext uri="{FF2B5EF4-FFF2-40B4-BE49-F238E27FC236}">
                <a16:creationId xmlns:a16="http://schemas.microsoft.com/office/drawing/2014/main" id="{A520932C-73D9-4619-B363-EC2B0C0237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0" name="Google Shape;80;p12">
            <a:extLst xmlns:a="http://schemas.openxmlformats.org/drawingml/2006/main">
              <a:ext uri="{FF2B5EF4-FFF2-40B4-BE49-F238E27FC236}">
                <a16:creationId xmlns:a16="http://schemas.microsoft.com/office/drawing/2014/main" id="{32BF5B87-792E-473C-8932-DB08D20C13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81" name="Google Shape;81;p12">
            <a:extLst xmlns:a="http://schemas.openxmlformats.org/drawingml/2006/main">
              <a:ext uri="{FF2B5EF4-FFF2-40B4-BE49-F238E27FC236}">
                <a16:creationId xmlns:a16="http://schemas.microsoft.com/office/drawing/2014/main" id="{816CA3CE-E2D9-41AD-8A24-FD27B79BAE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1E8E4511-3C73-4D5D-B61F-3E37E67094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DA50A2D4-5E45-4C05-9DA9-2365A92BF9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75d17ef3f540a8" /><Relationship Type="http://schemas.openxmlformats.org/officeDocument/2006/relationships/slideLayout" Target="/ppt/slideLayouts/slideLayout1.xml" Id="R242b33f3ac70404c" /><Relationship Type="http://schemas.openxmlformats.org/officeDocument/2006/relationships/slideLayout" Target="/ppt/slideLayouts/slideLayout2.xml" Id="Rf6119d4ec7554bd1" /><Relationship Type="http://schemas.openxmlformats.org/officeDocument/2006/relationships/slideLayout" Target="/ppt/slideLayouts/slideLayout3.xml" Id="Rd9679adc31004bae" /><Relationship Type="http://schemas.openxmlformats.org/officeDocument/2006/relationships/slideLayout" Target="/ppt/slideLayouts/slideLayout4.xml" Id="R1f420c3352814748" /><Relationship Type="http://schemas.openxmlformats.org/officeDocument/2006/relationships/slideLayout" Target="/ppt/slideLayouts/slideLayout5.xml" Id="Redd87b50704f4f59" /><Relationship Type="http://schemas.openxmlformats.org/officeDocument/2006/relationships/slideLayout" Target="/ppt/slideLayouts/slideLayout6.xml" Id="R70169d950a5f4c86" /><Relationship Type="http://schemas.openxmlformats.org/officeDocument/2006/relationships/slideLayout" Target="/ppt/slideLayouts/slideLayout7.xml" Id="R3dd90a09b9a040d2" /><Relationship Type="http://schemas.openxmlformats.org/officeDocument/2006/relationships/slideLayout" Target="/ppt/slideLayouts/slideLayout8.xml" Id="R2f9078055587499b" /><Relationship Type="http://schemas.openxmlformats.org/officeDocument/2006/relationships/slideLayout" Target="/ppt/slideLayouts/slideLayout9.xml" Id="R7acdd0b93f264fd9" /><Relationship Type="http://schemas.openxmlformats.org/officeDocument/2006/relationships/slideLayout" Target="/ppt/slideLayouts/slideLayout10.xml" Id="R57c9ea43b71945bb" /><Relationship Type="http://schemas.openxmlformats.org/officeDocument/2006/relationships/slideLayout" Target="/ppt/slideLayouts/slideLayout11.xml" Id="R5e23e26de3a843bf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">
            <a:extLst xmlns:a="http://schemas.openxmlformats.org/drawingml/2006/main">
              <a:ext uri="{FF2B5EF4-FFF2-40B4-BE49-F238E27FC236}">
                <a16:creationId xmlns:a16="http://schemas.microsoft.com/office/drawing/2014/main" id="{898084C6-D9C5-4097-BA03-1FC74CCDF7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1" name="Google Shape;11;p1">
            <a:extLst xmlns:a="http://schemas.openxmlformats.org/drawingml/2006/main">
              <a:ext uri="{FF2B5EF4-FFF2-40B4-BE49-F238E27FC236}">
                <a16:creationId xmlns:a16="http://schemas.microsoft.com/office/drawing/2014/main" id="{9A53BB78-460E-432A-BA70-EED9A3BA16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" name="Google Shape;12;p1">
            <a:extLst xmlns:a="http://schemas.openxmlformats.org/drawingml/2006/main">
              <a:ext uri="{FF2B5EF4-FFF2-40B4-BE49-F238E27FC236}">
                <a16:creationId xmlns:a16="http://schemas.microsoft.com/office/drawing/2014/main" id="{C3D8055F-BF09-4402-BAB6-48F5B07BD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3" name="Google Shape;13;p1">
            <a:extLst xmlns:a="http://schemas.openxmlformats.org/drawingml/2006/main">
              <a:ext uri="{FF2B5EF4-FFF2-40B4-BE49-F238E27FC236}">
                <a16:creationId xmlns:a16="http://schemas.microsoft.com/office/drawing/2014/main" id="{8BF64F14-739B-40AA-9C90-9954278FB8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" name="Google Shape;14;p1">
            <a:extLst xmlns:a="http://schemas.openxmlformats.org/drawingml/2006/main">
              <a:ext uri="{FF2B5EF4-FFF2-40B4-BE49-F238E27FC236}">
                <a16:creationId xmlns:a16="http://schemas.microsoft.com/office/drawing/2014/main" id="{E2EC5056-04E4-4A15-93F0-236EC48DFF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2b33f3ac70404c"/>
    <p:sldLayoutId xmlns:r="http://schemas.openxmlformats.org/officeDocument/2006/relationships" id="2147483650" r:id="Rf6119d4ec7554bd1"/>
    <p:sldLayoutId xmlns:r="http://schemas.openxmlformats.org/officeDocument/2006/relationships" id="2147483651" r:id="Rd9679adc31004bae"/>
    <p:sldLayoutId xmlns:r="http://schemas.openxmlformats.org/officeDocument/2006/relationships" id="2147483652" r:id="R1f420c3352814748"/>
    <p:sldLayoutId xmlns:r="http://schemas.openxmlformats.org/officeDocument/2006/relationships" id="2147483653" r:id="Redd87b50704f4f59"/>
    <p:sldLayoutId xmlns:r="http://schemas.openxmlformats.org/officeDocument/2006/relationships" id="2147483654" r:id="R70169d950a5f4c86"/>
    <p:sldLayoutId xmlns:r="http://schemas.openxmlformats.org/officeDocument/2006/relationships" id="2147483655" r:id="R3dd90a09b9a040d2"/>
    <p:sldLayoutId xmlns:r="http://schemas.openxmlformats.org/officeDocument/2006/relationships" id="2147483656" r:id="R2f9078055587499b"/>
    <p:sldLayoutId xmlns:r="http://schemas.openxmlformats.org/officeDocument/2006/relationships" id="2147483657" r:id="R7acdd0b93f264fd9"/>
    <p:sldLayoutId xmlns:r="http://schemas.openxmlformats.org/officeDocument/2006/relationships" id="2147483658" r:id="R57c9ea43b71945bb"/>
    <p:sldLayoutId xmlns:r="http://schemas.openxmlformats.org/officeDocument/2006/relationships" id="2147483659" r:id="R5e23e26de3a843bf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4e0bf1e4e34381" /><Relationship Type="http://schemas.openxmlformats.org/officeDocument/2006/relationships/notesSlide" Target="/ppt/notesSlides/notesSlide1.xml" Id="R03e2849bbb0442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0278d7b34c46b3" /><Relationship Type="http://schemas.openxmlformats.org/officeDocument/2006/relationships/notesSlide" Target="/ppt/notesSlides/notesSlide2.xml" Id="R84ed9cdd197c44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f96949ee1e4d9f" /><Relationship Type="http://schemas.openxmlformats.org/officeDocument/2006/relationships/image" Target="/ppt/media/image.png" Id="Rf148cdf030744799" /><Relationship Type="http://schemas.openxmlformats.org/officeDocument/2006/relationships/image" Target="/ppt/media/image2.png" Id="R5653eb48839a4447" /><Relationship Type="http://schemas.openxmlformats.org/officeDocument/2006/relationships/image" Target="/ppt/media/image3.png" Id="R5eacde56980b4a34" /><Relationship Type="http://schemas.openxmlformats.org/officeDocument/2006/relationships/notesSlide" Target="/ppt/notesSlides/notesSlide3.xml" Id="Rc2d38d28bb8845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8d2728337540be" /><Relationship Type="http://schemas.openxmlformats.org/officeDocument/2006/relationships/notesSlide" Target="/ppt/notesSlides/notesSlide4.xml" Id="R110e06fe97b548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1e5fe580924179" /><Relationship Type="http://schemas.openxmlformats.org/officeDocument/2006/relationships/image" Target="/ppt/media/image4.png" Id="R0edd96bfe07846d9" /><Relationship Type="http://schemas.openxmlformats.org/officeDocument/2006/relationships/image" Target="/ppt/media/image5.png" Id="R07f7ffd2240f46f5" /><Relationship Type="http://schemas.openxmlformats.org/officeDocument/2006/relationships/image" Target="/ppt/media/image6.png" Id="R0b0b6622fd7c458d" /><Relationship Type="http://schemas.openxmlformats.org/officeDocument/2006/relationships/image" Target="/ppt/media/image7.png" Id="R316f7e3173bf42fd" /><Relationship Type="http://schemas.openxmlformats.org/officeDocument/2006/relationships/image" Target="/ppt/media/image8.png" Id="Re74da2768ac34dcd" /><Relationship Type="http://schemas.openxmlformats.org/officeDocument/2006/relationships/image" Target="/ppt/media/image9.png" Id="Rf947ffb22f5b41cd" /><Relationship Type="http://schemas.openxmlformats.org/officeDocument/2006/relationships/image" Target="/ppt/media/image10.png" Id="R6e24508958934c32" /><Relationship Type="http://schemas.openxmlformats.org/officeDocument/2006/relationships/image" Target="/ppt/media/image11.png" Id="R078732a90a5f43eb" /><Relationship Type="http://schemas.openxmlformats.org/officeDocument/2006/relationships/notesSlide" Target="/ppt/notesSlides/notesSlide5.xml" Id="R51ea3768d32b4f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4ef4e31a384f81" /><Relationship Type="http://schemas.openxmlformats.org/officeDocument/2006/relationships/image" Target="/ppt/media/image12.png" Id="R10ed813f31c24fa6" /><Relationship Type="http://schemas.openxmlformats.org/officeDocument/2006/relationships/image" Target="/ppt/media/image13.png" Id="R10fcc15540d34f1f" /><Relationship Type="http://schemas.openxmlformats.org/officeDocument/2006/relationships/notesSlide" Target="/ppt/notesSlides/notesSlide6.xml" Id="Rda7c48b51da848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7e6932c91a48d7" /><Relationship Type="http://schemas.openxmlformats.org/officeDocument/2006/relationships/image" Target="/ppt/media/image14.png" Id="R814bd08d4b914ead" /><Relationship Type="http://schemas.openxmlformats.org/officeDocument/2006/relationships/image" Target="/ppt/media/image15.png" Id="R707d075b14694c4a" /><Relationship Type="http://schemas.openxmlformats.org/officeDocument/2006/relationships/image" Target="/ppt/media/image16.png" Id="Ra164bc4142844541" /><Relationship Type="http://schemas.openxmlformats.org/officeDocument/2006/relationships/notesSlide" Target="/ppt/notesSlides/notesSlide7.xml" Id="Rf9f9831ff8494f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7750a2a5c94f4c" /><Relationship Type="http://schemas.openxmlformats.org/officeDocument/2006/relationships/notesSlide" Target="/ppt/notesSlides/notesSlide8.xml" Id="Rb2e07a95749d4a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5be3fb947e45d3" /><Relationship Type="http://schemas.openxmlformats.org/officeDocument/2006/relationships/notesSlide" Target="/ppt/notesSlides/notesSlide9.xml" Id="R19e6a61ec9544f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8ee93ba83ae144bb" /><Relationship Type="http://schemas.openxmlformats.org/officeDocument/2006/relationships/notesSlide" Target="/ppt/notesSlides/notesSlide10.xml" Id="Re29ea4a98aff494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d315fe9041f42d3" /><Relationship Type="http://schemas.openxmlformats.org/officeDocument/2006/relationships/notesSlide" Target="/ppt/notesSlides/notesSlide11.xml" Id="Re16e6e9c103c4f4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60b34d21c245f0" /><Relationship Type="http://schemas.openxmlformats.org/officeDocument/2006/relationships/notesSlide" Target="/ppt/notesSlides/notesSlide12.xml" Id="R1b7c04b4f7424b9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2c81e0f992c4c70" /><Relationship Type="http://schemas.openxmlformats.org/officeDocument/2006/relationships/notesSlide" Target="/ppt/notesSlides/notesSlide13.xml" Id="R99b9d850bece4e9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c472d596a955449e" /><Relationship Type="http://schemas.openxmlformats.org/officeDocument/2006/relationships/notesSlide" Target="/ppt/notesSlides/notesSlide14.xml" Id="R330bf3dac9ea4b6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4831fd4817f4e63" /><Relationship Type="http://schemas.openxmlformats.org/officeDocument/2006/relationships/notesSlide" Target="/ppt/notesSlides/notesSlide15.xml" Id="R648185c1404d46c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f087c647124f80" /><Relationship Type="http://schemas.openxmlformats.org/officeDocument/2006/relationships/notesSlide" Target="/ppt/notesSlides/notesSlide16.xml" Id="R4303f2c72340497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9f689fdb3c624107" /><Relationship Type="http://schemas.openxmlformats.org/officeDocument/2006/relationships/notesSlide" Target="/ppt/notesSlides/notesSlide17.xml" Id="Ra0d70141760a46e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2c27a9db7d4eab" /><Relationship Type="http://schemas.openxmlformats.org/officeDocument/2006/relationships/image" Target="/ppt/media/image12.png" Id="Rda7c4a5e61c145b0" /><Relationship Type="http://schemas.openxmlformats.org/officeDocument/2006/relationships/image" Target="/ppt/media/image13.png" Id="R0720be9a46da4657" /><Relationship Type="http://schemas.openxmlformats.org/officeDocument/2006/relationships/notesSlide" Target="/ppt/notesSlides/notesSlide18.xml" Id="R4c012fc9219249d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F599BA1A-826B-4E0A-B651-507C884F6C6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ADVLSI2 2026</a:t>
            </a:r>
          </a:p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Progress</a:t>
            </a:r>
          </a:p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D7831688-1546-4ECC-9C53-7596951CEC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CNN-based Design Rule Checking | B0 + B1 complete · B2 next</a:t>
            </a:r>
          </a:p>
        </p:txBody>
      </p:sp>
    </p:spTree>
    <p:extLst>
      <p:ext uri="{BB962C8B-B14F-4D97-AF65-F5344CB8AC3E}">
        <p14:creationId xmlns:p14="http://schemas.microsoft.com/office/powerpoint/2010/main" val="19461769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14">
            <a:extLst xmlns:a="http://schemas.openxmlformats.org/drawingml/2006/main">
              <a:ext uri="{FF2B5EF4-FFF2-40B4-BE49-F238E27FC236}">
                <a16:creationId xmlns:a16="http://schemas.microsoft.com/office/drawing/2014/main" id="{A5E1D0C4-9937-43DB-9840-B994323AC5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Motivation</a:t>
            </a:r>
          </a:p>
        </p:txBody>
      </p:sp>
      <p:sp>
        <p:nvSpPr>
          <p:cNvPr id="95" name="Google Shape;95;p14">
            <a:extLst xmlns:a="http://schemas.openxmlformats.org/drawingml/2006/main">
              <a:ext uri="{FF2B5EF4-FFF2-40B4-BE49-F238E27FC236}">
                <a16:creationId xmlns:a16="http://schemas.microsoft.com/office/drawing/2014/main" id="{D5FE4B39-E8DA-42C5-BDD4-310A45150C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t>The number of rules has grown from a few hundred in 60</a:t>
            </a:r>
            <a:r>
              <a:rPr i="1"/>
              <a:t>nm </a:t>
            </a:r>
            <a:r>
              <a:t>nodes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>    to thousands of complex rules in 7</a:t>
            </a:r>
            <a:r>
              <a:rPr i="1"/>
              <a:t>nm </a:t>
            </a:r>
            <a:r>
              <a:t>nodes. </a:t>
            </a:r>
          </a:p>
          <a:p xmlns:a="http://schemas.openxmlformats.org/drawingml/2006/main">
            <a:pPr marL="228600" indent="-10414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DRC checking is often slow and iterative process with traditional tools that runs many mathematical Boolean operations.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The speed of the rule checker has become a critical point in layout generation of custom circuits.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b="1"/>
              <a:t>Real Time ML based DRC checker </a:t>
            </a:r>
            <a:r>
              <a:t>can help to speed up the design rule checking process because a neural network does not have to iterate over thousands of Boolean operations.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6807123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15">
            <a:extLst xmlns:a="http://schemas.openxmlformats.org/drawingml/2006/main">
              <a:ext uri="{FF2B5EF4-FFF2-40B4-BE49-F238E27FC236}">
                <a16:creationId xmlns:a16="http://schemas.microsoft.com/office/drawing/2014/main" id="{A4ACBD77-30FC-4923-9D58-4C198E8C4A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Article Review</a:t>
            </a:r>
          </a:p>
        </p:txBody>
      </p:sp>
      <p:pic>
        <p:nvPicPr>
          <p:cNvPr id="109" name="Google Shape;102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48cdf03074479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94160" y="2841500"/>
            <a:ext cx="3519087" cy="18052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0" name="Google Shape;103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653eb48839a444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20254" y="4794996"/>
            <a:ext cx="3066898" cy="126844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589C1DBB-C38B-4C23-8F95-F24BE6AE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99758"/>
            <a:ext cx="6096000" cy="6093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50 DRC free SRAM designs designed using the 15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nm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free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PDK.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5,000 variants of these designs were auto-generate using random parameters - total of  ~ 250,000 layout clips.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Target was to detect 3 different violation types.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100,000 clips used for Training, 15,000 for Validation, and 5,000 for Testing.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Training took ~7 minutes on a standard 6-core CPU (no GPU acceleration required). 92% accuracy rate was achieved.</a:t>
            </a:r>
            <a:br/>
            <a:br/>
            <a:br/>
            <a:br/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12" name="Google Shape;105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acde56980b4a3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889007" y="1842346"/>
            <a:ext cx="3464793" cy="76247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134633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012B65CD-9843-438D-A8C4-87E777DC3C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Proposal</a:t>
            </a:r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5FD51E6B-84BF-4FEA-B8B2-5C14878C6A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Make our POC using mature node open source PDK – for example SkyWater 130nm.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Focus only on one DRC violation- 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2400"/>
              <a:t>   for example: “m1.2  - m1 to m1 spacing &gt; 140nm”.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Layout data – Found “Tiny Tapout”  free github database but may need to explore for additional sources.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Project maybe expanded in the future to combine also DRC fixing.</a:t>
            </a: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83529623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C700C7D5-AF9E-495B-872B-E89D277CC9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6280" y="151531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Dataset Generation Example - Sky130 Layout </a:t>
            </a:r>
          </a:p>
        </p:txBody>
      </p:sp>
      <p:pic>
        <p:nvPicPr>
          <p:cNvPr id="313" name="Google Shape;119;p17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0edd96bfe07846d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5613" y="2488229"/>
            <a:ext cx="1462288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314" name="Google Shape;12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f7ffd2240f46f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883105" y="2488229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315" name="Google Shape;122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0b6622fd7c458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6914413" y="1276774"/>
            <a:ext cx="785746" cy="1446197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23" name="Google Shape;123;p17">
            <a:extLst xmlns:a="http://schemas.openxmlformats.org/drawingml/2006/main">
              <a:ext uri="{FF2B5EF4-FFF2-40B4-BE49-F238E27FC236}">
                <a16:creationId xmlns:a16="http://schemas.microsoft.com/office/drawing/2014/main" id="{7F4B0D21-6A54-466D-BF67-CBF9B7EB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3695" y="158390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4" name="Google Shape;124;p17">
            <a:extLst xmlns:a="http://schemas.openxmlformats.org/drawingml/2006/main">
              <a:ext uri="{FF2B5EF4-FFF2-40B4-BE49-F238E27FC236}">
                <a16:creationId xmlns:a16="http://schemas.microsoft.com/office/drawing/2014/main" id="{634FD96A-A5E9-4031-8113-5112734B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286" y="166581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CEBA2C2A-C127-4E2A-AAAC-66FAF4D1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8231" y="143531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1AE93747-89C2-4FC0-8BCE-0A143CC3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1688" y="167915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8B9DE854-1F8A-4C6C-BCCA-AF377CC2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613" y="262974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321" name="Google Shape;128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f7ffd2240f46f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50078" y="2488231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cxnSp>
        <p:nvCxnSpPr>
          <p:cNvPr id="322" name="Google Shape;129;p17"/>
          <p:cNvCxnSpPr/>
          <p:nvPr/>
        </p:nvCxnSpPr>
        <p:spPr>
          <a:xfrm xmlns:a="http://schemas.openxmlformats.org/drawingml/2006/main" rot="10800000" flipH="1">
            <a:off x="5878159" y="1276774"/>
            <a:ext cx="1032920" cy="2120426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323" name="Google Shape;130;p17"/>
          <p:cNvCxnSpPr/>
          <p:nvPr/>
        </p:nvCxnSpPr>
        <p:spPr>
          <a:xfrm xmlns:a="http://schemas.openxmlformats.org/drawingml/2006/main" rot="10800000" flipH="1">
            <a:off x="5878159" y="2722971"/>
            <a:ext cx="1032920" cy="67422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324" name="Google Shape;131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6f7e3173bf42f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26385" y="4491620"/>
            <a:ext cx="1509203" cy="1913914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32" name="Google Shape;132;p17">
            <a:extLst xmlns:a="http://schemas.openxmlformats.org/drawingml/2006/main">
              <a:ext uri="{FF2B5EF4-FFF2-40B4-BE49-F238E27FC236}">
                <a16:creationId xmlns:a16="http://schemas.microsoft.com/office/drawing/2014/main" id="{0C09FABB-4FC5-41C6-948A-F935A6BF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7629" y="3235281"/>
            <a:ext cx="1480852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Run DRC</a:t>
            </a:r>
          </a:p>
        </p:txBody>
      </p:sp>
      <p:sp>
        <p:nvSpPr>
          <p:cNvPr id="133" name="Google Shape;133;p17">
            <a:extLst xmlns:a="http://schemas.openxmlformats.org/drawingml/2006/main">
              <a:ext uri="{FF2B5EF4-FFF2-40B4-BE49-F238E27FC236}">
                <a16:creationId xmlns:a16="http://schemas.microsoft.com/office/drawing/2014/main" id="{4D76119E-5094-48B3-A675-13172F44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4957" y="3894921"/>
            <a:ext cx="1952060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Create Error Mask</a:t>
            </a:r>
          </a:p>
        </p:txBody>
      </p:sp>
      <p:sp>
        <p:nvSpPr>
          <p:cNvPr id="134" name="Google Shape;134;p17">
            <a:extLst xmlns:a="http://schemas.openxmlformats.org/drawingml/2006/main">
              <a:ext uri="{FF2B5EF4-FFF2-40B4-BE49-F238E27FC236}">
                <a16:creationId xmlns:a16="http://schemas.microsoft.com/office/drawing/2014/main" id="{4958EDB5-D328-47E0-93D7-8B5A28BC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7561" y="2336987"/>
            <a:ext cx="1480851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DRC Error Report 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(XML file)</a:t>
            </a:r>
          </a:p>
        </p:txBody>
      </p:sp>
      <p:sp>
        <p:nvSpPr>
          <p:cNvPr id="135" name="Google Shape;135;p17">
            <a:extLst xmlns:a="http://schemas.openxmlformats.org/drawingml/2006/main">
              <a:ext uri="{FF2B5EF4-FFF2-40B4-BE49-F238E27FC236}">
                <a16:creationId xmlns:a16="http://schemas.microsoft.com/office/drawing/2014/main" id="{9F8FB152-BAEE-42D6-80B9-2DF3E51E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80" y="5263911"/>
            <a:ext cx="930993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Corp </a:t>
            </a:r>
          </a:p>
        </p:txBody>
      </p:sp>
      <p:pic>
        <p:nvPicPr>
          <p:cNvPr id="329" name="Google Shape;136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4da2768ac34dc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3540" y="4495839"/>
            <a:ext cx="945125" cy="7911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30" name="Google Shape;137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47ffb22f5b41c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8913" y="5422301"/>
            <a:ext cx="945124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8" name="Google Shape;138;p17">
            <a:extLst xmlns:a="http://schemas.openxmlformats.org/drawingml/2006/main">
              <a:ext uri="{FF2B5EF4-FFF2-40B4-BE49-F238E27FC236}">
                <a16:creationId xmlns:a16="http://schemas.microsoft.com/office/drawing/2014/main" id="{F7222F07-CA91-4FFC-B44D-0B414002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541" y="4918105"/>
            <a:ext cx="1631329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Data Classification &amp; Balancing </a:t>
            </a:r>
          </a:p>
        </p:txBody>
      </p:sp>
      <p:pic>
        <p:nvPicPr>
          <p:cNvPr id="332" name="Google Shape;139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24508958934c3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84576" y="4850009"/>
            <a:ext cx="473501" cy="7106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33" name="Google Shape;14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8732a90a5f43e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119085" y="5717304"/>
            <a:ext cx="438992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7">
            <a:extLst xmlns:a="http://schemas.openxmlformats.org/drawingml/2006/main">
              <a:ext uri="{FF2B5EF4-FFF2-40B4-BE49-F238E27FC236}">
                <a16:creationId xmlns:a16="http://schemas.microsoft.com/office/drawing/2014/main" id="{95493A25-3E5E-47EC-8662-9ECFACAB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509" y="5099135"/>
            <a:ext cx="1613375" cy="646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Convert to Matrices</a:t>
            </a:r>
          </a:p>
        </p:txBody>
      </p:sp>
      <p:sp>
        <p:nvSpPr>
          <p:cNvPr id="142" name="Google Shape;142;p17">
            <a:extLst xmlns:a="http://schemas.openxmlformats.org/drawingml/2006/main">
              <a:ext uri="{FF2B5EF4-FFF2-40B4-BE49-F238E27FC236}">
                <a16:creationId xmlns:a16="http://schemas.microsoft.com/office/drawing/2014/main" id="{3C80207F-9F37-4B55-9039-09DFF589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79" y="4981139"/>
            <a:ext cx="1047073" cy="10618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  <p:cxnSp>
        <p:nvCxnSpPr>
          <p:cNvPr id="336" name="Google Shape;143;p17"/>
          <p:cNvCxnSpPr>
            <a:stCxn xmlns:a="http://schemas.openxmlformats.org/drawingml/2006/main" id="119" idx="3"/>
            <a:endCxn xmlns:a="http://schemas.openxmlformats.org/drawingml/2006/main" id="120" idx="1"/>
          </p:cNvCxnSpPr>
          <p:nvPr/>
        </p:nvCxnSpPr>
        <p:spPr>
          <a:xfrm xmlns:a="http://schemas.openxmlformats.org/drawingml/2006/main">
            <a:off x="2347901" y="3445187"/>
            <a:ext cx="535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37" name="Google Shape;144;p17"/>
          <p:cNvCxnSpPr>
            <a:endCxn xmlns:a="http://schemas.openxmlformats.org/drawingml/2006/main" id="128" idx="1"/>
          </p:cNvCxnSpPr>
          <p:nvPr/>
        </p:nvCxnSpPr>
        <p:spPr>
          <a:xfrm xmlns:a="http://schemas.openxmlformats.org/drawingml/2006/main">
            <a:off x="4363978" y="3445189"/>
            <a:ext cx="686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38" name="Google Shape;145;p17"/>
          <p:cNvCxnSpPr>
            <a:endCxn xmlns:a="http://schemas.openxmlformats.org/drawingml/2006/main" id="132" idx="1"/>
          </p:cNvCxnSpPr>
          <p:nvPr/>
        </p:nvCxnSpPr>
        <p:spPr>
          <a:xfrm xmlns:a="http://schemas.openxmlformats.org/drawingml/2006/main">
            <a:off x="6531029" y="3419947"/>
            <a:ext cx="846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39" name="Google Shape;146;p17"/>
          <p:cNvCxnSpPr>
            <a:endCxn xmlns:a="http://schemas.openxmlformats.org/drawingml/2006/main" id="135" idx="3"/>
          </p:cNvCxnSpPr>
          <p:nvPr/>
        </p:nvCxnSpPr>
        <p:spPr>
          <a:xfrm xmlns:a="http://schemas.openxmlformats.org/drawingml/2006/main" rot="10800000">
            <a:off x="9571073" y="5448577"/>
            <a:ext cx="55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40" name="Google Shape;147;p17"/>
          <p:cNvCxnSpPr>
            <a:endCxn xmlns:a="http://schemas.openxmlformats.org/drawingml/2006/main" id="135" idx="0"/>
          </p:cNvCxnSpPr>
          <p:nvPr/>
        </p:nvCxnSpPr>
        <p:spPr>
          <a:xfrm xmlns:a="http://schemas.openxmlformats.org/drawingml/2006/main">
            <a:off x="6521977" y="3937311"/>
            <a:ext cx="2583600" cy="13266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41" name="Google Shape;148;p17"/>
          <p:cNvCxnSpPr>
            <a:stCxn xmlns:a="http://schemas.openxmlformats.org/drawingml/2006/main" id="132" idx="3"/>
            <a:endCxn xmlns:a="http://schemas.openxmlformats.org/drawingml/2006/main" id="133" idx="0"/>
          </p:cNvCxnSpPr>
          <p:nvPr/>
        </p:nvCxnSpPr>
        <p:spPr>
          <a:xfrm xmlns:a="http://schemas.openxmlformats.org/drawingml/2006/main">
            <a:off x="8858481" y="3419947"/>
            <a:ext cx="2022600" cy="4749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42" name="Google Shape;149;p17"/>
          <p:cNvCxnSpPr>
            <a:stCxn xmlns:a="http://schemas.openxmlformats.org/drawingml/2006/main" id="133" idx="2"/>
            <a:endCxn xmlns:a="http://schemas.openxmlformats.org/drawingml/2006/main" id="131" idx="0"/>
          </p:cNvCxnSpPr>
          <p:nvPr/>
        </p:nvCxnSpPr>
        <p:spPr>
          <a:xfrm xmlns:a="http://schemas.openxmlformats.org/drawingml/2006/main">
            <a:off x="10880987" y="4264253"/>
            <a:ext cx="0" cy="2274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43" name="Google Shape;150;p17"/>
          <p:cNvCxnSpPr>
            <a:stCxn xmlns:a="http://schemas.openxmlformats.org/drawingml/2006/main" id="135" idx="1"/>
            <a:endCxn xmlns:a="http://schemas.openxmlformats.org/drawingml/2006/main" id="136" idx="3"/>
          </p:cNvCxnSpPr>
          <p:nvPr/>
        </p:nvCxnSpPr>
        <p:spPr>
          <a:xfrm xmlns:a="http://schemas.openxmlformats.org/drawingml/2006/main" rot="10800000">
            <a:off x="8128580" y="4891477"/>
            <a:ext cx="511500" cy="5571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44" name="Google Shape;151;p17"/>
          <p:cNvCxnSpPr>
            <a:stCxn xmlns:a="http://schemas.openxmlformats.org/drawingml/2006/main" id="135" idx="1"/>
            <a:endCxn xmlns:a="http://schemas.openxmlformats.org/drawingml/2006/main" id="137" idx="3"/>
          </p:cNvCxnSpPr>
          <p:nvPr/>
        </p:nvCxnSpPr>
        <p:spPr>
          <a:xfrm xmlns:a="http://schemas.openxmlformats.org/drawingml/2006/main" flipH="1">
            <a:off x="8133980" y="5448577"/>
            <a:ext cx="506100" cy="373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45" name="Google Shape;152;p17"/>
          <p:cNvCxnSpPr/>
          <p:nvPr/>
        </p:nvCxnSpPr>
        <p:spPr>
          <a:xfrm xmlns:a="http://schemas.openxmlformats.org/drawingml/2006/main" rot="10800000">
            <a:off x="6687721" y="5414141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46" name="Google Shape;153;p17"/>
          <p:cNvCxnSpPr/>
          <p:nvPr/>
        </p:nvCxnSpPr>
        <p:spPr>
          <a:xfrm xmlns:a="http://schemas.openxmlformats.org/drawingml/2006/main" rot="10800000">
            <a:off x="4566836" y="5248975"/>
            <a:ext cx="492001" cy="187904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47" name="Google Shape;154;p17"/>
          <p:cNvCxnSpPr/>
          <p:nvPr/>
        </p:nvCxnSpPr>
        <p:spPr>
          <a:xfrm xmlns:a="http://schemas.openxmlformats.org/drawingml/2006/main" flipH="1">
            <a:off x="4639544" y="5436879"/>
            <a:ext cx="410534" cy="27681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48" name="Google Shape;155;p17"/>
          <p:cNvCxnSpPr/>
          <p:nvPr/>
        </p:nvCxnSpPr>
        <p:spPr>
          <a:xfrm xmlns:a="http://schemas.openxmlformats.org/drawingml/2006/main" rot="10800000">
            <a:off x="3529264" y="5394138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349" name="Google Shape;156;p17"/>
          <p:cNvCxnSpPr/>
          <p:nvPr/>
        </p:nvCxnSpPr>
        <p:spPr>
          <a:xfrm xmlns:a="http://schemas.openxmlformats.org/drawingml/2006/main" rot="10800000">
            <a:off x="1356197" y="5379770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sp>
        <p:nvSpPr>
          <p:cNvPr id="157" name="Google Shape;157;p17">
            <a:extLst xmlns:a="http://schemas.openxmlformats.org/drawingml/2006/main">
              <a:ext uri="{FF2B5EF4-FFF2-40B4-BE49-F238E27FC236}">
                <a16:creationId xmlns:a16="http://schemas.microsoft.com/office/drawing/2014/main" id="{A54910AF-0C0A-44A3-8528-5B4EBADE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6" y="2067815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Clean GDS</a:t>
            </a:r>
          </a:p>
        </p:txBody>
      </p:sp>
      <p:sp>
        <p:nvSpPr>
          <p:cNvPr id="158" name="Google Shape;158;p17">
            <a:extLst xmlns:a="http://schemas.openxmlformats.org/drawingml/2006/main">
              <a:ext uri="{FF2B5EF4-FFF2-40B4-BE49-F238E27FC236}">
                <a16:creationId xmlns:a16="http://schemas.microsoft.com/office/drawing/2014/main" id="{FD078979-AA49-4967-B726-581FAE05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489" y="2064216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m1 only GDS</a:t>
            </a:r>
          </a:p>
        </p:txBody>
      </p:sp>
      <p:sp>
        <p:nvSpPr>
          <p:cNvPr id="159" name="Google Shape;159;p17">
            <a:extLst xmlns:a="http://schemas.openxmlformats.org/drawingml/2006/main">
              <a:ext uri="{FF2B5EF4-FFF2-40B4-BE49-F238E27FC236}">
                <a16:creationId xmlns:a16="http://schemas.microsoft.com/office/drawing/2014/main" id="{F6615E61-77FB-45F2-8376-94CD5E76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3064" y="1679154"/>
            <a:ext cx="1521092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Inject random  m1.2 DRC violations </a:t>
            </a:r>
          </a:p>
        </p:txBody>
      </p:sp>
      <p:sp>
        <p:nvSpPr>
          <p:cNvPr id="160" name="Google Shape;160;p17">
            <a:extLst xmlns:a="http://schemas.openxmlformats.org/drawingml/2006/main">
              <a:ext uri="{FF2B5EF4-FFF2-40B4-BE49-F238E27FC236}">
                <a16:creationId xmlns:a16="http://schemas.microsoft.com/office/drawing/2014/main" id="{6AEE0109-279C-480B-B0BD-D6F8A1CE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87246" y="5873569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accent6"/>
                </a:solidFill>
                <a:latin typeface="Arial"/>
                <a:ea typeface="Arial"/>
                <a:cs typeface="Arial"/>
              </a:rPr>
              <a:t>clean</a:t>
            </a:r>
          </a:p>
        </p:txBody>
      </p:sp>
      <p:sp>
        <p:nvSpPr>
          <p:cNvPr id="161" name="Google Shape;161;p17">
            <a:extLst xmlns:a="http://schemas.openxmlformats.org/drawingml/2006/main">
              <a:ext uri="{FF2B5EF4-FFF2-40B4-BE49-F238E27FC236}">
                <a16:creationId xmlns:a16="http://schemas.microsoft.com/office/drawing/2014/main" id="{BCECAD66-1E8D-470F-9F62-D383F979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94630" y="5036568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FF0000"/>
                </a:solidFill>
                <a:latin typeface="Arial"/>
                <a:ea typeface="Arial"/>
                <a:cs typeface="Arial"/>
              </a:rPr>
              <a:t>violation</a:t>
            </a:r>
          </a:p>
        </p:txBody>
      </p:sp>
    </p:spTree>
    <p:extLst>
      <p:ext uri="{BB962C8B-B14F-4D97-AF65-F5344CB8AC3E}">
        <p14:creationId xmlns:p14="http://schemas.microsoft.com/office/powerpoint/2010/main" val="16884749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Example of dataset output:</a:t>
            </a:r>
          </a:p>
        </p:txBody>
      </p:sp>
      <p:pic>
        <p:nvPicPr>
          <p:cNvPr id="177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10ed813f31c24fa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9" name="Google Shape;169;p18">
            <a:extLst xmlns:a="http://schemas.openxmlformats.org/drawingml/2006/main">
              <a:ext uri="{FF2B5EF4-FFF2-40B4-BE49-F238E27FC236}">
                <a16:creationId xmlns:a16="http://schemas.microsoft.com/office/drawing/2014/main" id="{645E68E4-2BDE-47D4-B479-439600BA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825" y="3354585"/>
            <a:ext cx="1131015" cy="127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1]]</a:t>
            </a:r>
          </a:p>
        </p:txBody>
      </p:sp>
      <p:pic>
        <p:nvPicPr>
          <p:cNvPr id="179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0fcc15540d34f1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1" name="Google Shape;171;p18">
            <a:extLst xmlns:a="http://schemas.openxmlformats.org/drawingml/2006/main">
              <a:ext uri="{FF2B5EF4-FFF2-40B4-BE49-F238E27FC236}">
                <a16:creationId xmlns:a16="http://schemas.microsoft.com/office/drawing/2014/main" id="{9C02C8E6-7A95-4071-A6AC-AC39EEDF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080" y="3354585"/>
            <a:ext cx="6096000" cy="127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</p:txBody>
      </p:sp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Layout Size = 150u x 200u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Window size = 2u x 2u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Window Stride = 1u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200x200 matrices (scale factor of 0.1)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                             ,                          ,                          . . 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Total of ~500 layout clips were generated.</a:t>
            </a:r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3" name="Google Shape;173;p18">
            <a:extLst xmlns:a="http://schemas.openxmlformats.org/drawingml/2006/main">
              <a:ext uri="{FF2B5EF4-FFF2-40B4-BE49-F238E27FC236}">
                <a16:creationId xmlns:a16="http://schemas.microsoft.com/office/drawing/2014/main" id="{BC8BEBE1-D0D4-4CD6-A7D1-F6EF9B25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7920" y="3354584"/>
            <a:ext cx="6096000" cy="127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8" name="Google Shape;178;p19">
            <a:extLst xmlns:a="http://schemas.openxmlformats.org/drawingml/2006/main">
              <a:ext uri="{FF2B5EF4-FFF2-40B4-BE49-F238E27FC236}">
                <a16:creationId xmlns:a16="http://schemas.microsoft.com/office/drawing/2014/main" id="{1221EDCB-BF9D-45F3-ABF9-6C31ED673F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steps</a:t>
            </a:r>
          </a:p>
        </p:txBody>
      </p:sp>
      <p:sp>
        <p:nvSpPr>
          <p:cNvPr id="179" name="Google Shape;179;p19">
            <a:extLst xmlns:a="http://schemas.openxmlformats.org/drawingml/2006/main">
              <a:ext uri="{FF2B5EF4-FFF2-40B4-BE49-F238E27FC236}">
                <a16:creationId xmlns:a16="http://schemas.microsoft.com/office/drawing/2014/main" id="{9BED944C-E6B8-4D26-8CAC-3682E76548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565397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Dataset generation - continue</a:t>
            </a:r>
          </a:p>
          <a:p xmlns:a="http://schemas.openxmlformats.org/drawingml/2006/main">
            <a:pPr marL="228600" indent="-76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CNN creation and training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Validation</a:t>
            </a:r>
          </a:p>
        </p:txBody>
      </p:sp>
      <p:pic>
        <p:nvPicPr>
          <p:cNvPr id="185" name="Google Shape;18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4bd08d4b914ea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993149" y="3888809"/>
            <a:ext cx="3647743" cy="20279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6" name="Google Shape;181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7d075b14694c4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79127" y="1622064"/>
            <a:ext cx="3329977" cy="185978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7" name="Google Shape;182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164bc414284454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869647" y="1622064"/>
            <a:ext cx="1750162" cy="217615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01058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20">
            <a:extLst xmlns:a="http://schemas.openxmlformats.org/drawingml/2006/main">
              <a:ext uri="{FF2B5EF4-FFF2-40B4-BE49-F238E27FC236}">
                <a16:creationId xmlns:a16="http://schemas.microsoft.com/office/drawing/2014/main" id="{63D583D9-4FAF-420A-B242-7A91EDE55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Resources &amp; Environment</a:t>
            </a:r>
          </a:p>
        </p:txBody>
      </p:sp>
      <p:sp>
        <p:nvSpPr>
          <p:cNvPr id="189" name="Google Shape;189;p20">
            <a:extLst xmlns:a="http://schemas.openxmlformats.org/drawingml/2006/main">
              <a:ext uri="{FF2B5EF4-FFF2-40B4-BE49-F238E27FC236}">
                <a16:creationId xmlns:a16="http://schemas.microsoft.com/office/drawing/2014/main" id="{DC8A3AF7-9354-4F1C-8461-010D7F9BA9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Tools – Klayout (free) interface with Python APIs.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PDK – SkyWater 130nm Open source PDK.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IP database – Tiny Tapeout database (may need for more sources).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Training – Google Colab (offers access to GPU), University servers.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45956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21">
            <a:extLst xmlns:a="http://schemas.openxmlformats.org/drawingml/2006/main">
              <a:ext uri="{FF2B5EF4-FFF2-40B4-BE49-F238E27FC236}">
                <a16:creationId xmlns:a16="http://schemas.microsoft.com/office/drawing/2014/main" id="{CC6E981B-E4BC-41F5-9C6F-5FF88D33F0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From proposal to measured system</a:t>
            </a:r>
          </a:p>
        </p:txBody>
      </p:sp>
      <p:sp>
        <p:nvSpPr>
          <p:cNvPr id="196" name="Google Shape;196;p21">
            <a:extLst xmlns:a="http://schemas.openxmlformats.org/drawingml/2006/main">
              <a:ext uri="{FF2B5EF4-FFF2-40B4-BE49-F238E27FC236}">
                <a16:creationId xmlns:a16="http://schemas.microsoft.com/office/drawing/2014/main" id="{600281A9-19F9-4F8B-86CB-889DFB6ECF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B0 + B1 complete · credible B2 baselines next</a:t>
            </a:r>
          </a:p>
        </p:txBody>
      </p:sp>
    </p:spTree>
    <p:extLst>
      <p:ext uri="{BB962C8B-B14F-4D97-AF65-F5344CB8AC3E}">
        <p14:creationId xmlns:p14="http://schemas.microsoft.com/office/powerpoint/2010/main" val="17755493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objective and contribution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Paper baseline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Tile-level binary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Reported up to 92% under the paper setup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exact violation location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Our target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Comparable paper-aligned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Generalization to unseen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Pixel-level localization →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DRC/LVS-verified repair suggestions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B0: reproducible pipeline established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6,060 labeled layout clips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Sky130 / m1.2 spacing rule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80/15/5 random tile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Training-only rotations and reflections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Dataset ZIP → deterministic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CNN training → best checkpoint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each epoch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Held-out test → JSON metrics + weights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B0 benchmark results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79.2%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0.786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79.5%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Dirty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303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Held-out tiles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accuracy by epoch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F1 by epoch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00" y="3910838"/>
            <a:ext cx="533400" cy="188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59333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67.3%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90696"/>
            <a:ext cx="533400" cy="20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347319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0.716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3678936"/>
            <a:ext cx="533400" cy="211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6143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75.6%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43198"/>
            <a:ext cx="533400" cy="20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342569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0.733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00" y="3611880"/>
            <a:ext cx="533400" cy="21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9438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78.0%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4966"/>
            <a:ext cx="533400" cy="212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334746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0.761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25">
            <a:extLst xmlns:a="http://schemas.openxmlformats.org/drawingml/2006/main">
              <a:ext uri="{FF2B5EF4-FFF2-40B4-BE49-F238E27FC236}">
                <a16:creationId xmlns:a16="http://schemas.microsoft.com/office/drawing/2014/main" id="{ECFEFA44-E7EB-4111-AB7B-CE25C0F4D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 result: functional, not yet paper-comparable</a:t>
            </a:r>
          </a:p>
        </p:txBody>
      </p:sp>
      <p:sp>
        <p:nvSpPr>
          <p:cNvPr id="265" name="Google Shape;265;p25">
            <a:extLst xmlns:a="http://schemas.openxmlformats.org/drawingml/2006/main">
              <a:ext uri="{FF2B5EF4-FFF2-40B4-BE49-F238E27FC236}">
                <a16:creationId xmlns:a16="http://schemas.microsoft.com/office/drawing/2014/main" id="{6F1DFA78-85BE-4013-AEBA-D4B53B45BF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Balanced predictions: 154 clean / 149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33 false alarms; 30 missed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Epochs 1–2 collapsed; recovery starts at epoch 3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Random tile split may leak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Dataset and task differ from the paper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freeze B0 and redesign evaluation before tuning</a:t>
            </a:r>
          </a:p>
        </p:txBody>
      </p:sp>
      <p:sp>
        <p:nvSpPr>
          <p:cNvPr id="266" name="Google Shape;266;p25">
            <a:extLst xmlns:a="http://schemas.openxmlformats.org/drawingml/2006/main">
              <a:ext uri="{FF2B5EF4-FFF2-40B4-BE49-F238E27FC236}">
                <a16:creationId xmlns:a16="http://schemas.microsoft.com/office/drawing/2014/main" id="{114B2ECA-B89A-49A6-BF33-464FB8D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0" y="1460500"/>
            <a:ext cx="3810000" cy="31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333333"/>
                </a:solidFill>
              </a:rPr>
              <a:t>Predicted class</a:t>
            </a:r>
          </a:p>
        </p:txBody>
      </p:sp>
      <p:sp>
        <p:nvSpPr>
          <p:cNvPr id="267" name="Google Shape;267;p25">
            <a:extLst xmlns:a="http://schemas.openxmlformats.org/drawingml/2006/main">
              <a:ext uri="{FF2B5EF4-FFF2-40B4-BE49-F238E27FC236}">
                <a16:creationId xmlns:a16="http://schemas.microsoft.com/office/drawing/2014/main" id="{36B959A8-0A7D-45AD-A797-B34F241D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68" name="Google Shape;268;p25">
            <a:extLst xmlns:a="http://schemas.openxmlformats.org/drawingml/2006/main">
              <a:ext uri="{FF2B5EF4-FFF2-40B4-BE49-F238E27FC236}">
                <a16:creationId xmlns:a16="http://schemas.microsoft.com/office/drawing/2014/main" id="{1181C51F-75BC-41B2-A5A4-BACA8667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69" name="Google Shape;269;p25">
            <a:extLst xmlns:a="http://schemas.openxmlformats.org/drawingml/2006/main">
              <a:ext uri="{FF2B5EF4-FFF2-40B4-BE49-F238E27FC236}">
                <a16:creationId xmlns:a16="http://schemas.microsoft.com/office/drawing/2014/main" id="{3E33EDFC-1BCC-435B-A60A-7A50D1D6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27940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70" name="Google Shape;270;p25">
            <a:extLst xmlns:a="http://schemas.openxmlformats.org/drawingml/2006/main">
              <a:ext uri="{FF2B5EF4-FFF2-40B4-BE49-F238E27FC236}">
                <a16:creationId xmlns:a16="http://schemas.microsoft.com/office/drawing/2014/main" id="{AD3CC03A-263E-4DD8-ADC4-57F1D081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46355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71" name="Google Shape;271;p25">
            <a:extLst xmlns:a="http://schemas.openxmlformats.org/drawingml/2006/main">
              <a:ext uri="{FF2B5EF4-FFF2-40B4-BE49-F238E27FC236}">
                <a16:creationId xmlns:a16="http://schemas.microsoft.com/office/drawing/2014/main" id="{8742A05F-2EA3-4937-9412-D022E3A3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40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124</a:t>
            </a:r>
          </a:p>
        </p:txBody>
      </p:sp>
      <p:sp>
        <p:nvSpPr>
          <p:cNvPr id="272" name="Google Shape;272;p25">
            <a:extLst xmlns:a="http://schemas.openxmlformats.org/drawingml/2006/main">
              <a:ext uri="{FF2B5EF4-FFF2-40B4-BE49-F238E27FC236}">
                <a16:creationId xmlns:a16="http://schemas.microsoft.com/office/drawing/2014/main" id="{A4BFF453-BDB8-4E04-A4D2-A4091A8C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33</a:t>
            </a:r>
          </a:p>
        </p:txBody>
      </p:sp>
      <p:sp>
        <p:nvSpPr>
          <p:cNvPr id="273" name="Google Shape;273;p25">
            <a:extLst xmlns:a="http://schemas.openxmlformats.org/drawingml/2006/main">
              <a:ext uri="{FF2B5EF4-FFF2-40B4-BE49-F238E27FC236}">
                <a16:creationId xmlns:a16="http://schemas.microsoft.com/office/drawing/2014/main" id="{088C8C39-0EC0-4CD9-99CF-44DD1402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D9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30</a:t>
            </a:r>
          </a:p>
        </p:txBody>
      </p:sp>
      <p:sp>
        <p:nvSpPr>
          <p:cNvPr id="274" name="Google Shape;274;p25">
            <a:extLst xmlns:a="http://schemas.openxmlformats.org/drawingml/2006/main">
              <a:ext uri="{FF2B5EF4-FFF2-40B4-BE49-F238E27FC236}">
                <a16:creationId xmlns:a16="http://schemas.microsoft.com/office/drawing/2014/main" id="{A2F928F5-A503-4AD1-B553-A62BA292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4D8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116</a:t>
            </a:r>
          </a:p>
        </p:txBody>
      </p:sp>
      <p:sp>
        <p:nvSpPr>
          <p:cNvPr id="275" name="Google Shape;275;p25">
            <a:extLst xmlns:a="http://schemas.openxmlformats.org/drawingml/2006/main">
              <a:ext uri="{FF2B5EF4-FFF2-40B4-BE49-F238E27FC236}">
                <a16:creationId xmlns:a16="http://schemas.microsoft.com/office/drawing/2014/main" id="{2BE5A9DA-BD4A-4D79-B483-7103B5D2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5905500"/>
            <a:ext cx="38100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333333"/>
                </a:solidFill>
              </a:rPr>
              <a:t>Test set: 303 tiles</a:t>
            </a:r>
          </a:p>
        </p:txBody>
      </p:sp>
    </p:spTree>
    <p:extLst>
      <p:ext uri="{BB962C8B-B14F-4D97-AF65-F5344CB8AC3E}">
        <p14:creationId xmlns:p14="http://schemas.microsoft.com/office/powerpoint/2010/main" val="624672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1" name="Google Shape;281;p26">
            <a:extLst xmlns:a="http://schemas.openxmlformats.org/drawingml/2006/main">
              <a:ext uri="{FF2B5EF4-FFF2-40B4-BE49-F238E27FC236}">
                <a16:creationId xmlns:a16="http://schemas.microsoft.com/office/drawing/2014/main" id="{A4910E91-D8A8-4AB9-937A-09FDE33845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Two benchmarks support two different claims</a:t>
            </a:r>
          </a:p>
        </p:txBody>
      </p:sp>
      <p:sp>
        <p:nvSpPr>
          <p:cNvPr id="282" name="Google Shape;282;p26">
            <a:extLst xmlns:a="http://schemas.openxmlformats.org/drawingml/2006/main">
              <a:ext uri="{FF2B5EF4-FFF2-40B4-BE49-F238E27FC236}">
                <a16:creationId xmlns:a16="http://schemas.microsoft.com/office/drawing/2014/main" id="{845EACED-1146-49ED-8B52-B9A46D8F92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Paper-aligned track</a:t>
            </a:r>
          </a:p>
        </p:txBody>
      </p:sp>
      <p:sp>
        <p:nvSpPr>
          <p:cNvPr id="283" name="Google Shape;283;p26">
            <a:extLst xmlns:a="http://schemas.openxmlformats.org/drawingml/2006/main">
              <a:ext uri="{FF2B5EF4-FFF2-40B4-BE49-F238E27FC236}">
                <a16:creationId xmlns:a16="http://schemas.microsoft.com/office/drawing/2014/main" id="{81356FD7-0410-4E31-80A5-5B3A788148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Reproduce the original task as closely as possible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Use matched preprocessing and split assumptions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Goal: approach or exceed the reported up-to-92% result</a:t>
            </a:r>
          </a:p>
        </p:txBody>
      </p:sp>
      <p:sp>
        <p:nvSpPr>
          <p:cNvPr id="284" name="Google Shape;284;p26">
            <a:extLst xmlns:a="http://schemas.openxmlformats.org/drawingml/2006/main">
              <a:ext uri="{FF2B5EF4-FFF2-40B4-BE49-F238E27FC236}">
                <a16:creationId xmlns:a16="http://schemas.microsoft.com/office/drawing/2014/main" id="{DDDC0AE2-7CF7-490F-82BF-AF48775E928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Unseen-layout track</a:t>
            </a:r>
          </a:p>
        </p:txBody>
      </p:sp>
      <p:sp>
        <p:nvSpPr>
          <p:cNvPr id="285" name="Google Shape;285;p26">
            <a:extLst xmlns:a="http://schemas.openxmlformats.org/drawingml/2006/main">
              <a:ext uri="{FF2B5EF4-FFF2-40B4-BE49-F238E27FC236}">
                <a16:creationId xmlns:a16="http://schemas.microsoft.com/office/drawing/2014/main" id="{78B3B5DB-D996-4352-92BC-701035F05AC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Group variants of the same design family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 and test on independent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 accuracy, F1, recall and per-layout variance</a:t>
            </a:r>
          </a:p>
        </p:txBody>
      </p:sp>
    </p:spTree>
    <p:extLst>
      <p:ext uri="{BB962C8B-B14F-4D97-AF65-F5344CB8AC3E}">
        <p14:creationId xmlns:p14="http://schemas.microsoft.com/office/powerpoint/2010/main" val="3749889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1" name="Google Shape;291;p27">
            <a:extLst xmlns:a="http://schemas.openxmlformats.org/drawingml/2006/main">
              <a:ext uri="{FF2B5EF4-FFF2-40B4-BE49-F238E27FC236}">
                <a16:creationId xmlns:a16="http://schemas.microsoft.com/office/drawing/2014/main" id="{25D4AAC7-00D9-4840-A8F1-3ED0BFDF0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Roadmap to the final contribution</a:t>
            </a:r>
          </a:p>
        </p:txBody>
      </p:sp>
      <p:sp>
        <p:nvSpPr>
          <p:cNvPr id="292" name="Google Shape;292;p27">
            <a:extLst xmlns:a="http://schemas.openxmlformats.org/drawingml/2006/main">
              <a:ext uri="{FF2B5EF4-FFF2-40B4-BE49-F238E27FC236}">
                <a16:creationId xmlns:a16="http://schemas.microsoft.com/office/drawing/2014/main" id="{73803BE1-6414-41AF-9F58-47BFF83C57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B1  Data integrity + broad layouts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  Establish both credible baselines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B3  Training improvements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  Architecture experiments</a:t>
            </a:r>
          </a:p>
        </p:txBody>
      </p:sp>
      <p:sp>
        <p:nvSpPr>
          <p:cNvPr id="293" name="Google Shape;293;p27">
            <a:extLst xmlns:a="http://schemas.openxmlformats.org/drawingml/2006/main">
              <a:ext uri="{FF2B5EF4-FFF2-40B4-BE49-F238E27FC236}">
                <a16:creationId xmlns:a16="http://schemas.microsoft.com/office/drawing/2014/main" id="{CEEA99AB-591A-4C2A-B740-D5B689FA2F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B5  Error analysis + targeted data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B6  Pixel-level localization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B7 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B8  DRC/LVS-verified auto-fix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B9  Reproducible release candidate</a:t>
            </a:r>
          </a:p>
        </p:txBody>
      </p:sp>
      <p:sp>
        <p:nvSpPr>
          <p:cNvPr id="294" name="Google Shape;294;p27">
            <a:extLst xmlns:a="http://schemas.openxmlformats.org/drawingml/2006/main">
              <a:ext uri="{FF2B5EF4-FFF2-40B4-BE49-F238E27FC236}">
                <a16:creationId xmlns:a16="http://schemas.microsoft.com/office/drawing/2014/main" id="{5875FAD4-2283-450C-884E-7D46ABE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5651500"/>
            <a:ext cx="9398100" cy="609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>
                <a:solidFill>
                  <a:srgbClr val="404040"/>
                </a:solidFill>
              </a:rPr>
              <a:t>Every phase records the delta vs. the previous phase while preserving frozen test sets.</a:t>
            </a:r>
          </a:p>
        </p:txBody>
      </p:sp>
    </p:spTree>
    <p:extLst>
      <p:ext uri="{BB962C8B-B14F-4D97-AF65-F5344CB8AC3E}">
        <p14:creationId xmlns:p14="http://schemas.microsoft.com/office/powerpoint/2010/main" val="194164372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p28">
            <a:extLst xmlns:a="http://schemas.openxmlformats.org/drawingml/2006/main">
              <a:ext uri="{FF2B5EF4-FFF2-40B4-BE49-F238E27FC236}">
                <a16:creationId xmlns:a16="http://schemas.microsoft.com/office/drawing/2014/main" id="{78232064-9341-4BFB-AA9C-DDA925B1FA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Phase dashboard</a:t>
            </a:r>
          </a:p>
        </p:txBody>
      </p:sp>
      <p:sp>
        <p:nvSpPr>
          <p:cNvPr id="301" name="Google Shape;301;p28">
            <a:extLst xmlns:a="http://schemas.openxmlformats.org/drawingml/2006/main">
              <a:ext uri="{FF2B5EF4-FFF2-40B4-BE49-F238E27FC236}">
                <a16:creationId xmlns:a16="http://schemas.microsoft.com/office/drawing/2014/main" id="{5A6449E8-BF14-41CA-A749-802548E8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302" name="Google Shape;302;p28">
            <a:extLst xmlns:a="http://schemas.openxmlformats.org/drawingml/2006/main">
              <a:ext uri="{FF2B5EF4-FFF2-40B4-BE49-F238E27FC236}">
                <a16:creationId xmlns:a16="http://schemas.microsoft.com/office/drawing/2014/main" id="{127831AB-935D-49D7-8833-0E6D9BC1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168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State</a:t>
            </a:r>
          </a:p>
        </p:txBody>
      </p:sp>
      <p:sp>
        <p:nvSpPr>
          <p:cNvPr id="303" name="Google Shape;303;p28">
            <a:extLst xmlns:a="http://schemas.openxmlformats.org/drawingml/2006/main">
              <a:ext uri="{FF2B5EF4-FFF2-40B4-BE49-F238E27FC236}">
                <a16:creationId xmlns:a16="http://schemas.microsoft.com/office/drawing/2014/main" id="{E046DAB1-FE87-431F-B8A7-F131B432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168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Primary output</a:t>
            </a:r>
          </a:p>
        </p:txBody>
      </p:sp>
      <p:sp>
        <p:nvSpPr>
          <p:cNvPr id="304" name="Google Shape;304;p28">
            <a:extLst xmlns:a="http://schemas.openxmlformats.org/drawingml/2006/main">
              <a:ext uri="{FF2B5EF4-FFF2-40B4-BE49-F238E27FC236}">
                <a16:creationId xmlns:a16="http://schemas.microsoft.com/office/drawing/2014/main" id="{94C93F9C-2271-4CF1-9E79-074D907E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168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305" name="Google Shape;305;p28">
            <a:extLst xmlns:a="http://schemas.openxmlformats.org/drawingml/2006/main">
              <a:ext uri="{FF2B5EF4-FFF2-40B4-BE49-F238E27FC236}">
                <a16:creationId xmlns:a16="http://schemas.microsoft.com/office/drawing/2014/main" id="{C1968E20-7847-44E6-BAE5-2AADE74F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168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306" name="Google Shape;306;p28">
            <a:extLst xmlns:a="http://schemas.openxmlformats.org/drawingml/2006/main">
              <a:ext uri="{FF2B5EF4-FFF2-40B4-BE49-F238E27FC236}">
                <a16:creationId xmlns:a16="http://schemas.microsoft.com/office/drawing/2014/main" id="{200D8B98-F39A-4696-838C-B89CEAEE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168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Δ F1</a:t>
            </a:r>
          </a:p>
        </p:txBody>
      </p:sp>
      <p:sp>
        <p:nvSpPr>
          <p:cNvPr id="307" name="Google Shape;307;p28">
            <a:extLst xmlns:a="http://schemas.openxmlformats.org/drawingml/2006/main">
              <a:ext uri="{FF2B5EF4-FFF2-40B4-BE49-F238E27FC236}">
                <a16:creationId xmlns:a16="http://schemas.microsoft.com/office/drawing/2014/main" id="{EC42D951-996E-4263-B961-C40816F6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3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B0</a:t>
            </a:r>
          </a:p>
        </p:txBody>
      </p:sp>
      <p:sp>
        <p:nvSpPr>
          <p:cNvPr id="308" name="Google Shape;308;p28">
            <a:extLst xmlns:a="http://schemas.openxmlformats.org/drawingml/2006/main">
              <a:ext uri="{FF2B5EF4-FFF2-40B4-BE49-F238E27FC236}">
                <a16:creationId xmlns:a16="http://schemas.microsoft.com/office/drawing/2014/main" id="{6BA7D49C-8127-41F1-90C9-2F7F83A6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803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09" name="Google Shape;309;p28">
            <a:extLst xmlns:a="http://schemas.openxmlformats.org/drawingml/2006/main">
              <a:ext uri="{FF2B5EF4-FFF2-40B4-BE49-F238E27FC236}">
                <a16:creationId xmlns:a16="http://schemas.microsoft.com/office/drawing/2014/main" id="{B106DC09-893E-4342-84D2-A3A7C8B8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803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Functional random-tile sanity run</a:t>
            </a:r>
          </a:p>
        </p:txBody>
      </p:sp>
      <p:sp>
        <p:nvSpPr>
          <p:cNvPr id="310" name="Google Shape;310;p28">
            <a:extLst xmlns:a="http://schemas.openxmlformats.org/drawingml/2006/main">
              <a:ext uri="{FF2B5EF4-FFF2-40B4-BE49-F238E27FC236}">
                <a16:creationId xmlns:a16="http://schemas.microsoft.com/office/drawing/2014/main" id="{3AA99EB8-7A01-465C-849B-C319EE47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803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79.2%</a:t>
            </a:r>
          </a:p>
        </p:txBody>
      </p:sp>
      <p:sp>
        <p:nvSpPr>
          <p:cNvPr id="311" name="Google Shape;311;p28">
            <a:extLst xmlns:a="http://schemas.openxmlformats.org/drawingml/2006/main">
              <a:ext uri="{FF2B5EF4-FFF2-40B4-BE49-F238E27FC236}">
                <a16:creationId xmlns:a16="http://schemas.microsoft.com/office/drawing/2014/main" id="{86520773-CBBA-4D6F-A5BE-655420B4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3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0.786</a:t>
            </a:r>
          </a:p>
        </p:txBody>
      </p:sp>
      <p:sp>
        <p:nvSpPr>
          <p:cNvPr id="312" name="Google Shape;312;p28">
            <a:extLst xmlns:a="http://schemas.openxmlformats.org/drawingml/2006/main">
              <a:ext uri="{FF2B5EF4-FFF2-40B4-BE49-F238E27FC236}">
                <a16:creationId xmlns:a16="http://schemas.microsoft.com/office/drawing/2014/main" id="{6BBDF09D-8331-46A2-9C22-4B6B990E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803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3" name="Google Shape;313;p28">
            <a:extLst xmlns:a="http://schemas.openxmlformats.org/drawingml/2006/main">
              <a:ext uri="{FF2B5EF4-FFF2-40B4-BE49-F238E27FC236}">
                <a16:creationId xmlns:a16="http://schemas.microsoft.com/office/drawing/2014/main" id="{872EB468-146D-4751-8F74-F8D973C2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57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B1</a:t>
            </a:r>
          </a:p>
        </p:txBody>
      </p:sp>
      <p:sp>
        <p:nvSpPr>
          <p:cNvPr id="314" name="Google Shape;314;p28">
            <a:extLst xmlns:a="http://schemas.openxmlformats.org/drawingml/2006/main">
              <a:ext uri="{FF2B5EF4-FFF2-40B4-BE49-F238E27FC236}">
                <a16:creationId xmlns:a16="http://schemas.microsoft.com/office/drawing/2014/main" id="{4CF2492B-A652-41BF-B7E3-16EDFD08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24257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15" name="Google Shape;315;p28">
            <a:extLst xmlns:a="http://schemas.openxmlformats.org/drawingml/2006/main">
              <a:ext uri="{FF2B5EF4-FFF2-40B4-BE49-F238E27FC236}">
                <a16:creationId xmlns:a16="http://schemas.microsoft.com/office/drawing/2014/main" id="{BE08BEBD-0DE3-4066-8C29-628F9F88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24257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14,348 tiles · 14 frozen families</a:t>
            </a:r>
          </a:p>
        </p:txBody>
      </p:sp>
      <p:sp>
        <p:nvSpPr>
          <p:cNvPr id="316" name="Google Shape;316;p28">
            <a:extLst xmlns:a="http://schemas.openxmlformats.org/drawingml/2006/main">
              <a:ext uri="{FF2B5EF4-FFF2-40B4-BE49-F238E27FC236}">
                <a16:creationId xmlns:a16="http://schemas.microsoft.com/office/drawing/2014/main" id="{14BADFCD-A9AC-4E40-A65A-DAFF3478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24257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7" name="Google Shape;317;p28">
            <a:extLst xmlns:a="http://schemas.openxmlformats.org/drawingml/2006/main">
              <a:ext uri="{FF2B5EF4-FFF2-40B4-BE49-F238E27FC236}">
                <a16:creationId xmlns:a16="http://schemas.microsoft.com/office/drawing/2014/main" id="{E3491A0A-3373-4AF1-86A9-6FBAD175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257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8" name="Google Shape;318;p28">
            <a:extLst xmlns:a="http://schemas.openxmlformats.org/drawingml/2006/main">
              <a:ext uri="{FF2B5EF4-FFF2-40B4-BE49-F238E27FC236}">
                <a16:creationId xmlns:a16="http://schemas.microsoft.com/office/drawing/2014/main" id="{9C81D429-8191-40B6-BD92-D7E5895E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24257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9" name="Google Shape;319;p28">
            <a:extLst xmlns:a="http://schemas.openxmlformats.org/drawingml/2006/main">
              <a:ext uri="{FF2B5EF4-FFF2-40B4-BE49-F238E27FC236}">
                <a16:creationId xmlns:a16="http://schemas.microsoft.com/office/drawing/2014/main" id="{342D0530-1A64-451C-8D65-349346FA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B2</a:t>
            </a:r>
          </a:p>
        </p:txBody>
      </p:sp>
      <p:sp>
        <p:nvSpPr>
          <p:cNvPr id="320" name="Google Shape;320;p28">
            <a:extLst xmlns:a="http://schemas.openxmlformats.org/drawingml/2006/main">
              <a:ext uri="{FF2B5EF4-FFF2-40B4-BE49-F238E27FC236}">
                <a16:creationId xmlns:a16="http://schemas.microsoft.com/office/drawing/2014/main" id="{2695A851-5AC7-4839-ADAF-517FB7BF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0480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Planned</a:t>
            </a:r>
          </a:p>
        </p:txBody>
      </p:sp>
      <p:sp>
        <p:nvSpPr>
          <p:cNvPr id="321" name="Google Shape;321;p28">
            <a:extLst xmlns:a="http://schemas.openxmlformats.org/drawingml/2006/main">
              <a:ext uri="{FF2B5EF4-FFF2-40B4-BE49-F238E27FC236}">
                <a16:creationId xmlns:a16="http://schemas.microsoft.com/office/drawing/2014/main" id="{65FF05B1-66C4-4B33-A42A-74A5D110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0480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Paper-aligned + unseen-layout baselines</a:t>
            </a:r>
          </a:p>
        </p:txBody>
      </p:sp>
      <p:sp>
        <p:nvSpPr>
          <p:cNvPr id="322" name="Google Shape;322;p28">
            <a:extLst xmlns:a="http://schemas.openxmlformats.org/drawingml/2006/main">
              <a:ext uri="{FF2B5EF4-FFF2-40B4-BE49-F238E27FC236}">
                <a16:creationId xmlns:a16="http://schemas.microsoft.com/office/drawing/2014/main" id="{4E48C1A9-181A-48F8-9111-1E1FB657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0480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23" name="Google Shape;323;p28">
            <a:extLst xmlns:a="http://schemas.openxmlformats.org/drawingml/2006/main">
              <a:ext uri="{FF2B5EF4-FFF2-40B4-BE49-F238E27FC236}">
                <a16:creationId xmlns:a16="http://schemas.microsoft.com/office/drawing/2014/main" id="{F66279B1-0956-43C9-AF35-DD275CC6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24" name="Google Shape;324;p28">
            <a:extLst xmlns:a="http://schemas.openxmlformats.org/drawingml/2006/main">
              <a:ext uri="{FF2B5EF4-FFF2-40B4-BE49-F238E27FC236}">
                <a16:creationId xmlns:a16="http://schemas.microsoft.com/office/drawing/2014/main" id="{00AC2838-397A-413A-9BC9-B52DFAE4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0480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25" name="Google Shape;325;p28">
            <a:extLst xmlns:a="http://schemas.openxmlformats.org/drawingml/2006/main">
              <a:ext uri="{FF2B5EF4-FFF2-40B4-BE49-F238E27FC236}">
                <a16:creationId xmlns:a16="http://schemas.microsoft.com/office/drawing/2014/main" id="{4C4DF4E6-7E90-45F9-A4FF-79BD1CD8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03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B6</a:t>
            </a:r>
          </a:p>
        </p:txBody>
      </p:sp>
      <p:sp>
        <p:nvSpPr>
          <p:cNvPr id="326" name="Google Shape;326;p28">
            <a:extLst xmlns:a="http://schemas.openxmlformats.org/drawingml/2006/main">
              <a:ext uri="{FF2B5EF4-FFF2-40B4-BE49-F238E27FC236}">
                <a16:creationId xmlns:a16="http://schemas.microsoft.com/office/drawing/2014/main" id="{586AE6D2-619E-4D48-BE4E-21973652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6703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Planned</a:t>
            </a:r>
          </a:p>
        </p:txBody>
      </p:sp>
      <p:sp>
        <p:nvSpPr>
          <p:cNvPr id="327" name="Google Shape;327;p28">
            <a:extLst xmlns:a="http://schemas.openxmlformats.org/drawingml/2006/main">
              <a:ext uri="{FF2B5EF4-FFF2-40B4-BE49-F238E27FC236}">
                <a16:creationId xmlns:a16="http://schemas.microsoft.com/office/drawing/2014/main" id="{F9D069C7-1338-4D46-B0AB-D2BF1709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6703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Pixel-level violation masks</a:t>
            </a:r>
          </a:p>
        </p:txBody>
      </p:sp>
      <p:sp>
        <p:nvSpPr>
          <p:cNvPr id="328" name="Google Shape;328;p28">
            <a:extLst xmlns:a="http://schemas.openxmlformats.org/drawingml/2006/main">
              <a:ext uri="{FF2B5EF4-FFF2-40B4-BE49-F238E27FC236}">
                <a16:creationId xmlns:a16="http://schemas.microsoft.com/office/drawing/2014/main" id="{F479FAD1-2806-4C1F-8E14-B55C6175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6703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29" name="Google Shape;329;p28">
            <a:extLst xmlns:a="http://schemas.openxmlformats.org/drawingml/2006/main">
              <a:ext uri="{FF2B5EF4-FFF2-40B4-BE49-F238E27FC236}">
                <a16:creationId xmlns:a16="http://schemas.microsoft.com/office/drawing/2014/main" id="{FC4D32A1-6DB2-4AC3-A687-7E483012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703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0" name="Google Shape;330;p28">
            <a:extLst xmlns:a="http://schemas.openxmlformats.org/drawingml/2006/main">
              <a:ext uri="{FF2B5EF4-FFF2-40B4-BE49-F238E27FC236}">
                <a16:creationId xmlns:a16="http://schemas.microsoft.com/office/drawing/2014/main" id="{38FF56B8-67E4-4F84-AA6D-ECC1C8CA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6703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1" name="Google Shape;331;p28">
            <a:extLst xmlns:a="http://schemas.openxmlformats.org/drawingml/2006/main">
              <a:ext uri="{FF2B5EF4-FFF2-40B4-BE49-F238E27FC236}">
                <a16:creationId xmlns:a16="http://schemas.microsoft.com/office/drawing/2014/main" id="{8851117A-DA25-4710-A553-5D74E59C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26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B8</a:t>
            </a:r>
          </a:p>
        </p:txBody>
      </p:sp>
      <p:sp>
        <p:nvSpPr>
          <p:cNvPr id="332" name="Google Shape;332;p28">
            <a:extLst xmlns:a="http://schemas.openxmlformats.org/drawingml/2006/main">
              <a:ext uri="{FF2B5EF4-FFF2-40B4-BE49-F238E27FC236}">
                <a16:creationId xmlns:a16="http://schemas.microsoft.com/office/drawing/2014/main" id="{64942851-E416-4299-A224-B4F8637F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42926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Planned</a:t>
            </a:r>
          </a:p>
        </p:txBody>
      </p:sp>
      <p:sp>
        <p:nvSpPr>
          <p:cNvPr id="333" name="Google Shape;333;p28">
            <a:extLst xmlns:a="http://schemas.openxmlformats.org/drawingml/2006/main">
              <a:ext uri="{FF2B5EF4-FFF2-40B4-BE49-F238E27FC236}">
                <a16:creationId xmlns:a16="http://schemas.microsoft.com/office/drawing/2014/main" id="{F28F830C-6514-4366-A116-012636DA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2926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DRC/LVS-verified repair suggestions</a:t>
            </a:r>
          </a:p>
        </p:txBody>
      </p:sp>
      <p:sp>
        <p:nvSpPr>
          <p:cNvPr id="334" name="Google Shape;334;p28">
            <a:extLst xmlns:a="http://schemas.openxmlformats.org/drawingml/2006/main">
              <a:ext uri="{FF2B5EF4-FFF2-40B4-BE49-F238E27FC236}">
                <a16:creationId xmlns:a16="http://schemas.microsoft.com/office/drawing/2014/main" id="{56CF22F8-67AE-4604-BAFD-7E25961A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42926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5" name="Google Shape;335;p28">
            <a:extLst xmlns:a="http://schemas.openxmlformats.org/drawingml/2006/main">
              <a:ext uri="{FF2B5EF4-FFF2-40B4-BE49-F238E27FC236}">
                <a16:creationId xmlns:a16="http://schemas.microsoft.com/office/drawing/2014/main" id="{A64FED1C-C18A-489C-B55A-EE24413D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926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6" name="Google Shape;336;p28">
            <a:extLst xmlns:a="http://schemas.openxmlformats.org/drawingml/2006/main">
              <a:ext uri="{FF2B5EF4-FFF2-40B4-BE49-F238E27FC236}">
                <a16:creationId xmlns:a16="http://schemas.microsoft.com/office/drawing/2014/main" id="{F002356A-7BFB-4B93-9F7A-126AB56F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42926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7" name="Google Shape;337;p28">
            <a:extLst xmlns:a="http://schemas.openxmlformats.org/drawingml/2006/main">
              <a:ext uri="{FF2B5EF4-FFF2-40B4-BE49-F238E27FC236}">
                <a16:creationId xmlns:a16="http://schemas.microsoft.com/office/drawing/2014/main" id="{5845105F-F779-4219-B75C-0ADDD457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287000" cy="787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2D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3400D"/>
                </a:solidFill>
              </a:rPr>
              <a:t>Next gate: B2 reruns the unchanged CNN on both frozen protocols across fixed seeds and reports per-layout metrics.</a:t>
            </a:r>
          </a:p>
        </p:txBody>
      </p:sp>
    </p:spTree>
    <p:extLst>
      <p:ext uri="{BB962C8B-B14F-4D97-AF65-F5344CB8AC3E}">
        <p14:creationId xmlns:p14="http://schemas.microsoft.com/office/powerpoint/2010/main" val="213991425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B1: evaluation foundation is now credible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14,348</a:t>
            </a:r>
            <a:r>
              <a:t> labeled tiles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 independent</a:t>
            </a:r>
            <a:r>
              <a:t>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7,784 clean / 6,564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9 new families</a:t>
            </a:r>
            <a:r>
              <a:t> admitted in B1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0 contradictory labels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2,597</a:t>
            </a:r>
            <a:r>
              <a:t> equivalent duplicates removed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split: </a:t>
            </a:r>
            <a:r>
              <a:t>6,442 / 2,627 / 2,682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Source hashes + manifest gate verified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B1 visual audit: labels trace back to DRC geometry</a:t>
            </a:r>
          </a:p>
        </p:txBody>
      </p:sp>
      <p:pic>
        <p:nvPicPr>
          <p:cNvPr id="176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da7c4a5e61c145b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7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20be9a46da465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Representative clean and dirty tiles are selected deterministically for every admitted family.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Pink overlays show the verified KLayout m1.2 violation geometry inside dirty tiles.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This confirms coordinate registration before B2 training; B6 will turn the same geometry into pixel-level segmentation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2026-08-01T14:06:03.9010000Z</dcterms:created>
  <dcterms:modified xsi:type="dcterms:W3CDTF">2026-08-01T14:06:03.9010000Z</dcterms:modified>
</coreProperties>
</file>